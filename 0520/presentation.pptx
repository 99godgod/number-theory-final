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88952" cy="45720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Times New Roman"/>
              </a:rPr>
              <a:t>Lattice Cryptography: Hardness and Algorithms for SVP/CVP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42316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6E4F7"/>
                </a:solidFill>
                <a:latin typeface="Microsoft JhengHei"/>
              </a:rPr>
              <a:t>格密碼學：SVP/CVP 的困難性與求解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29184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6E4F7"/>
                </a:solidFill>
                <a:latin typeface="Times New Roman"/>
              </a:rPr>
              <a:t>From Minkowski's Theorem to Post-Quantum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49039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D6E4F7"/>
                </a:solidFill>
                <a:latin typeface="Microsoft JhengHei"/>
              </a:rPr>
              <a:t>從 Minkowski 定理到後量子安全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8006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黃崇晉 (Chung-Chin Huang)  ·  L16141149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2578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D6E4F7"/>
                </a:solidFill>
                <a:latin typeface="Microsoft JhengHei"/>
              </a:rPr>
              <a:t>數論（一） · 2026 春季 · 國立成功大學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62356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6E4F7"/>
                </a:solidFill>
                <a:latin typeface="Times New Roman"/>
              </a:rPr>
              <a:t>Number Theory (I)  ·  Spring 2026  ·  NCKU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55448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B88600"/>
                </a:solidFill>
                <a:latin typeface="Microsoft JhengHei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Microsoft JhengHei"/>
              </a:rPr>
              <a:t>動機與背景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1480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D6E4F7"/>
                </a:solidFill>
                <a:latin typeface="Times New Roman"/>
              </a:rPr>
              <a:t>Motivation and Background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02920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6E4F7"/>
                </a:solidFill>
                <a:latin typeface="Microsoft JhengHei"/>
              </a:rPr>
              <a:t>⏱  8 分鐘 / minutes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RSA 與 ECC — 現今密碼學的基石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1 · Slide 2 / 38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8872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RSA：公鑰 N = pq，安全性 = 整數分解困難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古典最佳：GNFS，時間 exp(Õ((log N)^(1/3)))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已知 N = pq，求 p, q 困難（IFP）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ECC：ECDLP，古典最佳 Pollard rho O(√n)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已知 P, Q = kP，求純量 k 困難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256-bit ECC ≈ 3072-bit RSA（更省金鑰）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兩者皆為現今 HTTPS、行動銀行、TLS 基礎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Google、Apple、銀行：全球部署數百億份金鑰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一旦被破解 → 整個網際網路加密生態崩潰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925312"/>
            <a:ext cx="11430000" cy="53035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952744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2F6B"/>
                </a:solidFill>
                <a:latin typeface="Microsoft JhengHei"/>
              </a:rPr>
              <a:t>💡  RSA 於 1977 年提出，ECC 於 1985 年提出；至今仍是最廣泛部署的公鑰系統。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Shor 演算法（1994）— 量子的致命打擊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1 · Slide 3 / 38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344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6B"/>
                </a:solidFill>
                <a:latin typeface="Microsoft JhengHei"/>
              </a:rPr>
              <a:t>核心觀察：IFP 與 ECDLP 皆可化為「尋找週期 (Period Finding)」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37360"/>
            <a:ext cx="10515600" cy="9144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737360"/>
            <a:ext cx="73152" cy="91440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78308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6B3A"/>
                </a:solidFill>
                <a:latin typeface="Times New Roman"/>
              </a:rPr>
              <a:t>f(x) = aˣ mod N，週期 ω 滿足 aω ≡ 1 (mod 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83464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Microsoft JhengHei"/>
              </a:rPr>
              <a:t>Quantum Fourier Transform 可在多項式時間求週期 → 直接破解 RSA / ECC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337560"/>
            <a:ext cx="10515600" cy="1645920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337560"/>
            <a:ext cx="73152" cy="1645920"/>
          </a:xfrm>
          <a:prstGeom prst="rect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401568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03030"/>
                </a:solidFill>
                <a:latin typeface="Microsoft JhengHei"/>
              </a:rPr>
              <a:t>古典 vs 量子複雜度比較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7947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Times New Roman"/>
              </a:rPr>
              <a:t>RSA-2048：古典 GNFS  ≈  exp(Õ((log N)^(1/3)))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16052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Times New Roman"/>
              </a:rPr>
              <a:t>              →  量子 Shor  ≈  Õ((log N)³)（指數 → 多項式）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5262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Times New Roman"/>
              </a:rPr>
              <a:t>ECDLP：古典 Pollard rho  O(√n)  →  量子 Shor  Õ((log n)³)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8920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03030"/>
                </a:solidFill>
                <a:latin typeface="Microsoft JhengHei"/>
              </a:rPr>
              <a:t>結論：一旦容錯量子電腦問世，RSA、DH、ECC 同時失效。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897880"/>
            <a:ext cx="11430000" cy="54864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9436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D2F6B"/>
                </a:solidFill>
                <a:latin typeface="Microsoft JhengHei"/>
              </a:rPr>
              <a:t>💡  SVP/CVP 目前量子最佳仍需 2^Θ(n)，這正是格密碼學的立足點。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Period Finding 尋找週期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1 · Slide 4 / 38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8872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週期函數定義：f(x + ω) = f(x) 對所有 x 成立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ω 稱為函數的週期（period）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Quantum Fourier Transform 可在多項式時間求週期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與古典 DFT 類比，但作用於量子疊加態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這是 Shor 演算法擊垮 RSA / ECC 的核心子程序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RSA 歸約：f(x) = aˣ mod N → 週期 ω → gcd 分解 N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N | (a^ω − 1) = (a^(ω/2)+1)(a^(ω/2)−1)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gcd(a^(ω/2) ± 1, N) 即可拆出 p 與 q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ECDLP 歸約：群上的離散對數 → 週期問題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在橢圓曲線群的結構上同樣可構造週期函數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925312"/>
            <a:ext cx="11430000" cy="53035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952744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2F6B"/>
                </a:solidFill>
                <a:latin typeface="Microsoft JhengHei"/>
              </a:rPr>
              <a:t>💡  Period finding 是「量子電腦能做、古典電腦難做」的典型任務。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格密碼學的登場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1 · Slide 5 / 38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8872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Ajtai 1996：worst-case → average-case 歸約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格上某些困難問題即使對量子電腦也認為困難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首度給出有嚴格安全歸約的公鑰密碼學候選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LWE（Regev 2005）：帶雜訊線性方程組，公鑰 O(n²)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安全性歸約自格上 SVP（量子歸約）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NIST PQC 競賽 Kyber/Dilithium 的直接前身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Ring-LWE（LPR 2010）：代數結構，公鑰 O(n)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ℤⁿ → 分圓整數環，NTT 加速乘法至 O(n log n)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SVPγ 格上最短向量問題：目前量子最佳仍需 2^Θ(n)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這是格密碼學量子抵抗力的幾何根源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Section 1 小結 — 問題鏈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1 · Slide 6 / 38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8872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2F6B"/>
                </a:solidFill>
                <a:latin typeface="Microsoft JhengHei"/>
              </a:rPr>
              <a:t>問題鏈 / The Problem Chain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37360"/>
            <a:ext cx="3200400" cy="594360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84708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2F6B"/>
                </a:solidFill>
                <a:latin typeface="Microsoft JhengHei"/>
              </a:rPr>
              <a:t>RSA / ECC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186537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B88600"/>
                </a:solidFill>
                <a:latin typeface="Microsoft JhengHe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737360"/>
            <a:ext cx="6675120" cy="5943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184708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Microsoft JhengHei"/>
              </a:rPr>
              <a:t>整數分解 / ECDLP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496312"/>
            <a:ext cx="3200400" cy="594360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606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2F6B"/>
                </a:solidFill>
                <a:latin typeface="Microsoft JhengHei"/>
              </a:rPr>
              <a:t>Shor 破解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26243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B88600"/>
                </a:solidFill>
                <a:latin typeface="Microsoft JhengHe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2496312"/>
            <a:ext cx="6675120" cy="5943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26060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Microsoft JhengHei"/>
              </a:rPr>
              <a:t>量子多項式時間，兩者同時失效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3255263"/>
            <a:ext cx="3200400" cy="59436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364991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2F6B"/>
                </a:solidFill>
                <a:latin typeface="Microsoft JhengHei"/>
              </a:rPr>
              <a:t>Lattice / SVP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338327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B88600"/>
                </a:solidFill>
                <a:latin typeface="Microsoft JhengHe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3255263"/>
            <a:ext cx="6675120" cy="5943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3364991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Microsoft JhengHei"/>
              </a:rPr>
              <a:t>量子難解，2^Θ(n)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4014215"/>
            <a:ext cx="3200400" cy="59436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12394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2F6B"/>
                </a:solidFill>
                <a:latin typeface="Microsoft JhengHei"/>
              </a:rPr>
              <a:t>LWE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4142231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B88600"/>
                </a:solidFill>
                <a:latin typeface="Microsoft JhengHe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4014215"/>
            <a:ext cx="6675120" cy="5943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0" y="4123944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Microsoft JhengHei"/>
              </a:rPr>
              <a:t>帶雜訊方程組，公鑰 O(n²)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4773168"/>
            <a:ext cx="3200400" cy="59436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488289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2F6B"/>
                </a:solidFill>
                <a:latin typeface="Microsoft JhengHei"/>
              </a:rPr>
              <a:t>Ring-LWE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63440" y="4773168"/>
            <a:ext cx="6675120" cy="5943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46320" y="488289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Microsoft JhengHei"/>
              </a:rPr>
              <a:t>代數結構，公鑰 O(n)，NIST 標準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587044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3A"/>
                </a:solidFill>
                <a:latin typeface="Microsoft JhengHei"/>
              </a:rPr>
              <a:t>接下來：深入格的幾何結構，理解 SVP/CVP 為何困難，以及如何求解。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55448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B88600"/>
                </a:solidFill>
                <a:latin typeface="Microsoft JhengHei"/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Microsoft JhengHei"/>
              </a:rPr>
              <a:t>格與困難問題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1480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D6E4F7"/>
                </a:solidFill>
                <a:latin typeface="Times New Roman"/>
              </a:rPr>
              <a:t>Lattices and Hard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02920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6E4F7"/>
                </a:solidFill>
                <a:latin typeface="Microsoft JhengHei"/>
              </a:rPr>
              <a:t>⏱  12 分鐘 / minutes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格 (Lattice) 的定義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2 · Slide 8 / 38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3444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2F6B"/>
                </a:solidFill>
                <a:latin typeface="Microsoft JhengHei"/>
              </a:rPr>
              <a:t>離散加法子群 / Discrete additive subgroup of ℝⁿ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37360"/>
            <a:ext cx="10515600" cy="100584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737360"/>
            <a:ext cx="73152" cy="100584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78308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2F6B"/>
                </a:solidFill>
                <a:latin typeface="Times New Roman"/>
              </a:rPr>
              <a:t>𝓛  =  ⊕ᵢ₌₁ⁿ ℤ bᵢ  ⊂  ℝⁿ ,   bᵢ ∈ ℝⁿ linearly independent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926080"/>
            <a:ext cx="2834640" cy="4572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98094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2F6B"/>
                </a:solidFill>
                <a:latin typeface="Microsoft JhengHei"/>
              </a:rPr>
              <a:t>基底矩陣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2971800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Microsoft JhengHei"/>
              </a:rPr>
              <a:t>B = [b₁ | … | bₙ]，格由 B 的整數線性組合構成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520440"/>
            <a:ext cx="2834640" cy="4572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57530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2F6B"/>
                </a:solidFill>
                <a:latin typeface="Microsoft JhengHei"/>
              </a:rPr>
              <a:t>覆積 (covolume)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3566160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Microsoft JhengHei"/>
              </a:rPr>
              <a:t>det(𝓛) = |det B|，與基底選擇無關之不變量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114800"/>
            <a:ext cx="2834640" cy="4572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169663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2F6B"/>
                </a:solidFill>
                <a:latin typeface="Microsoft JhengHei"/>
              </a:rPr>
              <a:t>相繼極小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4160520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Microsoft JhengHei"/>
              </a:rPr>
              <a:t>λᵢ(𝓛) = inf{r : dim span(𝓛 ∩ B(0,r)) ≥ i}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4709160"/>
            <a:ext cx="2834640" cy="4572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76402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2F6B"/>
                </a:solidFill>
                <a:latin typeface="Microsoft JhengHei"/>
              </a:rPr>
              <a:t>最短向量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4754880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Microsoft JhengHei"/>
              </a:rPr>
              <a:t>λ₁(𝓛) — 第一個相繼極小，即非零最短向量長度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2F6B"/>
                </a:solidFill>
                <a:latin typeface="Microsoft JhengHei"/>
              </a:rPr>
              <a:t>💡  幾何觀點：格是 ℝⁿ 中均勻分佈的點陣；覆積 = 一個基本胞（fundamental domain）的體積。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Good Basis vs Bad Basis — 視覺直觀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2 · Slide 9 / 38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3444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6B"/>
                </a:solidFill>
                <a:latin typeface="Microsoft JhengHei"/>
              </a:rPr>
              <a:t>同一個格，不同的基底呈現截然不同的樣貌。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83080"/>
            <a:ext cx="5394960" cy="416052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783080"/>
            <a:ext cx="64008" cy="416052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8745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6B3A"/>
                </a:solidFill>
                <a:latin typeface="Microsoft JhengHei"/>
              </a:rPr>
              <a:t>Good Basis（近正交、長度均等）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331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icrosoft JhengHei"/>
              </a:rPr>
              <a:t>▸  b₁ ⊥ b₂（夾角近 90°）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7889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icrosoft JhengHei"/>
              </a:rPr>
              <a:t>▸  ‖b₁‖ ≈ ‖b₂‖（長度相近）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2461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icrosoft JhengHei"/>
              </a:rPr>
              <a:t>▸  最短向量明顯可見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703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icrosoft JhengHei"/>
              </a:rPr>
              <a:t>▸  Babai rounding 直接給精確解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1605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icrosoft JhengHei"/>
              </a:rPr>
              <a:t>▸  LLL reduction 後可得此形式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1783080"/>
            <a:ext cx="5394960" cy="4160520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1783080"/>
            <a:ext cx="64008" cy="4160520"/>
          </a:xfrm>
          <a:prstGeom prst="rect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8745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03030"/>
                </a:solidFill>
                <a:latin typeface="Microsoft JhengHei"/>
              </a:rPr>
              <a:t>Bad Basis（高度歪斜、夾角小）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331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icrosoft JhengHei"/>
              </a:rPr>
              <a:t>▸  b₁, b₂ 幾乎平行（夾角小）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7889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icrosoft JhengHei"/>
              </a:rPr>
              <a:t>▸  ‖b₁‖ ≫ ‖b₂‖（長度差異大）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2461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icrosoft JhengHei"/>
              </a:rPr>
              <a:t>▸  最短向量隱藏其中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703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icrosoft JhengHei"/>
              </a:rPr>
              <a:t>▸  Babai rounding 選錯胞元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41605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icrosoft JhengHei"/>
              </a:rPr>
              <a:t>▸  直接計算 B⁻¹y 誤差極大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5989320"/>
            <a:ext cx="11338560" cy="50292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01675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2F6B"/>
                </a:solidFill>
                <a:latin typeface="Microsoft JhengHei"/>
              </a:rPr>
              <a:t>💡  格本身不變，但 basis 的品質決定解題難度。格密碼的安全性正是利用：攻擊者拿到的是 bad basis，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SVP — Shortest Vector Problem 最短向量問題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2 · Slide 10 / 38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3444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2F6B"/>
                </a:solidFill>
                <a:latin typeface="Microsoft JhengHei"/>
              </a:rPr>
              <a:t>定義 / Definition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691640"/>
            <a:ext cx="10515600" cy="9144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691640"/>
            <a:ext cx="73152" cy="91440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73736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6B3A"/>
                </a:solidFill>
                <a:latin typeface="Times New Roman"/>
              </a:rPr>
              <a:t>λ₁(Λ)  =  min  ‖x‖ ,    x ∈ Λ \ {0}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7889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2F6B"/>
                </a:solidFill>
                <a:latin typeface="Microsoft JhengHei"/>
              </a:rPr>
              <a:t>直觀理解 / Intuition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46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50A0"/>
                </a:solidFill>
                <a:latin typeface="Microsoft JhengHei"/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246120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Microsoft JhengHei"/>
              </a:rPr>
              <a:t>Λ 是 ℝⁿ 中離散點集；SVP = 在這些點中找離原點最近的非零點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72160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50A0"/>
                </a:solidFill>
                <a:latin typeface="Microsoft JhengHei"/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721608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Microsoft JhengHei"/>
              </a:rPr>
              <a:t>二維且 basis 漂亮時，最短向量明顯可見（眼睛可辨識）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97096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50A0"/>
                </a:solidFill>
                <a:latin typeface="Microsoft JhengHei"/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197096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Microsoft JhengHei"/>
              </a:rPr>
              <a:t>若 basis 歪扭，最短向量仍存在但極難辨識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672583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50A0"/>
                </a:solidFill>
                <a:latin typeface="Microsoft JhengHei"/>
              </a:rP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672583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Microsoft JhengHei"/>
              </a:rPr>
              <a:t>高維度（n ≥ 50）時即使 good basis 也難以找到精確解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5230368"/>
            <a:ext cx="10515600" cy="685800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5230368"/>
            <a:ext cx="64008" cy="685800"/>
          </a:xfrm>
          <a:prstGeom prst="rect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3035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03030"/>
                </a:solidFill>
                <a:latin typeface="Microsoft JhengHei"/>
              </a:rPr>
              <a:t>決策版本 GapSVP_γ：給定 Λ，判斷 λ₁ ≤ 1 還是 λ₁ &gt; γ（中間留空隙 gap）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961888"/>
            <a:ext cx="11430000" cy="50292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989320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2F6B"/>
                </a:solidFill>
                <a:latin typeface="Microsoft JhengHei"/>
              </a:rPr>
              <a:t>💡  SVP 與 GapSVP_γ 在小 γ 下被認為對古典 + 量子電腦均需 2^Θ(n) 時間。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CVP — Closest Vector Problem 最近向量問題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2 · Slide 11 / 38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3444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2F6B"/>
                </a:solidFill>
                <a:latin typeface="Microsoft JhengHei"/>
              </a:rPr>
              <a:t>定義 / Definition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691640"/>
            <a:ext cx="10515600" cy="9144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691640"/>
            <a:ext cx="73152" cy="91440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73736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6B3A"/>
                </a:solidFill>
                <a:latin typeface="Times New Roman"/>
              </a:rPr>
              <a:t>dist(y, Λ)  =  min  ‖x − y‖ ,    x ∈ 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78892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Microsoft JhengHei"/>
              </a:rPr>
              <a:t>直觀：給定目標點 y ∈ ℝⁿ（未必在格上），找格中距離 y 最近的點。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337560"/>
            <a:ext cx="5120640" cy="20116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337560"/>
            <a:ext cx="64008" cy="201168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40156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2F6B"/>
                </a:solidFill>
                <a:latin typeface="Microsoft JhengHei"/>
              </a:rPr>
              <a:t>BDD — Bounded Distance Decoding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8404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•  CVP 的重要特例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1330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•  dist(y, Λ) &lt; λ₁ /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42569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•  此條件下答案唯一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71830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•  Babai NP 演算法精確求解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01091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•  LWE 解碼的幾何模型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337560"/>
            <a:ext cx="5120640" cy="2011680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3337560"/>
            <a:ext cx="64008" cy="2011680"/>
          </a:xfrm>
          <a:prstGeom prst="rect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40156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03030"/>
                </a:solidFill>
                <a:latin typeface="Microsoft JhengHei"/>
              </a:rPr>
              <a:t>CVP ≥ SVP 困難度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8404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•  SVP 可規約至 CVP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1330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•  （因此 CVP 至少一樣難）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42569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•  CVP 在任意近似因子下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71830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•  均為 NP-hard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01091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•  精確 CVP 需指數時間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961888"/>
            <a:ext cx="11430000" cy="50292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989320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2F6B"/>
                </a:solidFill>
                <a:latin typeface="Microsoft JhengHei"/>
              </a:rPr>
              <a:t>💡  CVP 困難性 → BDD → LWE 安全性：這是 Kyber、Dilithium 等 NIST 後量子標準的幾何根源。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為什麼 SVP/CVP 困難？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2 · Slide 12 / 38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8872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基底歪斜時，四捨五入法（Babai rounding）失效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最近格點不在最近的「胞元」中，rounding 選錯答案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基底大小歸約問題：找 good basis 本身就很難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LLL 只保證指數近似，無法在多項式時間得到精確解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Minkowski 定理給上界，但找到實際最短向量是另一回事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vol(S) &gt; 2ⁿ det(Λ) 保證存在，但不給出尋找演算法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目前已知最佳古典與量子演算法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精確 SVP/CVP（γ = 1）：古典 &amp; 量子 均需 2^Θ(n)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量子加速有限：BDGL sieving 僅達 2^(0.265n)（仍指數）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多項式近似（γ = poly(n)）：LLL/BKZ 可達，但近似因子大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925312"/>
            <a:ext cx="11430000" cy="53035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952744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2F6B"/>
                </a:solidFill>
                <a:latin typeface="Microsoft JhengHei"/>
              </a:rPr>
              <a:t>💡  「困難」的本質：高維度使得格點呈指數多，而結構使得窮舉無效。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複雜度景觀 — Complexity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2 · Slide 13 / 38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070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6B"/>
                </a:solidFill>
                <a:latin typeface="Microsoft JhengHei"/>
              </a:rPr>
              <a:t>格問題的複雜度依近似因子 γ 呈現清晰的分層結構：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37360"/>
            <a:ext cx="11338560" cy="54864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470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</a:rPr>
              <a:t>問題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184708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</a:rPr>
              <a:t>近似因子 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184708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</a:rPr>
              <a:t>最佳已知複雜度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184708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</a:rPr>
              <a:t>備註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423160"/>
            <a:ext cx="11338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53288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SVP exact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253288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γ =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253288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2^O(n)（Sieving）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253288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3030"/>
                </a:solidFill>
                <a:latin typeface="Microsoft JhengHei"/>
              </a:rPr>
              <a:t>古典 &amp; 量子皆指數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108960"/>
            <a:ext cx="11338560" cy="5943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21868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SVP approx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321868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γ = 2^O(n^ε)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79" y="321868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6B3A"/>
                </a:solidFill>
                <a:latin typeface="Microsoft JhengHei"/>
              </a:rPr>
              <a:t>poly(n)（LLL）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321868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多項式時間可解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794760"/>
            <a:ext cx="11338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90448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CVP exact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390448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γ =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79" y="390448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2^O(n)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79" y="390448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3030"/>
                </a:solidFill>
                <a:latin typeface="Microsoft JhengHei"/>
              </a:rPr>
              <a:t>≥ SVP 困難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4480560"/>
            <a:ext cx="11338560" cy="5943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59028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BDD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80" y="459028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dist &lt; λ₁/2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79" y="459028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6B3A"/>
                </a:solidFill>
                <a:latin typeface="Microsoft JhengHei"/>
              </a:rPr>
              <a:t>poly(n)（Babai NP）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79" y="459028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LWE 解碼核心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5166360"/>
            <a:ext cx="11338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527608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GapSVP crypto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8880" y="527608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γ = poly(n)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79" y="527608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3030"/>
                </a:solidFill>
                <a:latin typeface="Microsoft JhengHei"/>
              </a:rPr>
              <a:t>假設困難（NIST 安全基礎）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26679" y="527608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LWE 歸約目標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Section 2 小結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2 · Slide 14 / 38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8872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格 = 離散加法子群；覆積與相繼極小為核心不變量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det(𝓛) = |det B|（與基底無關）；λ₁ = 最短向量長度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SVP（找最短向量）與 CVP（找最近格點）是兩大核心困難問題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GapSVP_γ 為決策版本；BDD 是 CVP 的特例（dist &lt; λ₁/2）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Good basis vs Bad basis：同一格，解題難度天壤之別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格密碼安全性的本質：攻擊者只拿到 bad basis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複雜度依近似因子分層：精確解指數，粗略近似多項式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SVP/CVP 困難性 → LWE/Ring-LWE 安全性（下節與第 3 節詳述）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55448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B88600"/>
                </a:solidFill>
                <a:latin typeface="Microsoft JhengHei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Microsoft JhengHei"/>
              </a:rPr>
              <a:t>如何求解 SVP 與 CVP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1480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D6E4F7"/>
                </a:solidFill>
                <a:latin typeface="Times New Roman"/>
              </a:rPr>
              <a:t>Solving SVP and CVP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02920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6E4F7"/>
                </a:solidFill>
                <a:latin typeface="Microsoft JhengHei"/>
              </a:rPr>
              <a:t>⏱  15 分鐘 / minutes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Gram-Schmidt 正交化（LLL 的基礎）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3 · Slide 16 / 38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070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6B"/>
                </a:solidFill>
                <a:latin typeface="Microsoft JhengHei"/>
              </a:rPr>
              <a:t>GSO 遞推公式 / Gram-Schmidt orthogonalization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515600" cy="118872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719072"/>
            <a:ext cx="73152" cy="118872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764792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6B3A"/>
                </a:solidFill>
                <a:latin typeface="Times New Roman"/>
              </a:rPr>
              <a:t>b*ᵢ  =  bᵢ  −  Σⱼ＜ᵢ μᵢⱼ b*ⱼ
μᵢⱼ  =  ⟨bᵢ, b*ⱼ⟩ / ‖b*ⱼ‖²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1089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50A0"/>
                </a:solidFill>
                <a:latin typeface="Microsoft JhengHei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0896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Microsoft JhengHei"/>
              </a:rPr>
              <a:t>Gram-Schmidt 給出正交基 {b*ᵢ}，但不一定是格基（係數非整數）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118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50A0"/>
                </a:solidFill>
                <a:latin typeface="Microsoft JhengHei"/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61188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Microsoft JhengHei"/>
              </a:rPr>
              <a:t>關鍵恆等式：∏ᵢ ‖b*ᵢ‖ = |det B| = det(Λ)（覆積不變）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1148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50A0"/>
                </a:solidFill>
                <a:latin typeface="Microsoft JhengHei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1148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Microsoft JhengHei"/>
              </a:rPr>
              <a:t>‖b*ᵢ‖ 的大小反映 bᵢ 相對於前面向量的「正交分量」長度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6177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50A0"/>
                </a:solidFill>
                <a:latin typeface="Microsoft JhengHei"/>
              </a:rPr>
              <a:t>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61772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Microsoft JhengHei"/>
              </a:rPr>
              <a:t>LLL 條件就是利用 μᵢⱼ 與 ‖b*ᵢ‖ 對 basis 做「局部最佳化」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925312"/>
            <a:ext cx="11430000" cy="53035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9618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2F6B"/>
                </a:solidFill>
                <a:latin typeface="Microsoft JhengHei"/>
              </a:rPr>
              <a:t>💡  GSO 的目的：把「歪扭 basis」的正交分量結構量化，作為 LLL 優化的指標。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LLL 演算法（Lenstra-Lenstra-Lovász, 1982）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3 · Slide 17 / 38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070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6B"/>
                </a:solidFill>
                <a:latin typeface="Microsoft JhengHei"/>
              </a:rPr>
              <a:t>LLL 使用兩個條件對 basis 做歸約：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515600" cy="118872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719072"/>
            <a:ext cx="73152" cy="118872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764792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A6B3A"/>
                </a:solidFill>
                <a:latin typeface="Times New Roman"/>
              </a:rPr>
              <a:t>1. Size condition:  |μᵢⱼ| ≤ 1/2  for j &lt; i
2. Lovász condition:  ‖b*ₖ‖²  ≥  (δ − μ²ₖ,ₖ₋₁) ‖b*ₖ₋₁‖²,   δ ∈ (3/4, 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09067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6B"/>
                </a:solidFill>
                <a:latin typeface="Microsoft JhengHei"/>
              </a:rPr>
              <a:t>輸出保證：LLL-reduced basis 滿足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547872"/>
            <a:ext cx="10515600" cy="9144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547872"/>
            <a:ext cx="73152" cy="91440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593591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C03030"/>
                </a:solidFill>
                <a:latin typeface="Times New Roman"/>
              </a:rPr>
              <a:t>‖b₁‖  ≤  2^((n−1)/2) · λ₁(Λ)    （指數近似）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177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50A0"/>
                </a:solidFill>
                <a:latin typeface="Microsoft JhengHei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617720"/>
            <a:ext cx="10241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icrosoft JhengHei"/>
              </a:rPr>
              <a:t>時間複雜度：poly(n, log B)，多項式時間可完成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4748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50A0"/>
                </a:solidFill>
                <a:latin typeface="Microsoft JhengHei"/>
              </a:rPr>
              <a:t>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047488"/>
            <a:ext cx="10241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icrosoft JhengHei"/>
              </a:rPr>
              <a:t>近似因子 2^(n/2)：維度 100 時約 10¹⁵ 倍，遠大於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477256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50A0"/>
                </a:solidFill>
                <a:latin typeface="Microsoft JhengHei"/>
              </a:rPr>
              <a:t>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477256"/>
            <a:ext cx="10241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icrosoft JhengHei"/>
              </a:rPr>
              <a:t>1982 年用於分解低指數 RSA、解 knapsack 密碼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907024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50A0"/>
                </a:solidFill>
                <a:latin typeface="Microsoft JhengHei"/>
              </a:rPr>
              <a:t>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907024"/>
            <a:ext cx="10241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icrosoft JhengHei"/>
              </a:rPr>
              <a:t>直觀：LLL 只做「局部最佳化」（每次交換相鄰對），無法保證全域最短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6263640"/>
            <a:ext cx="11430000" cy="27432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291072"/>
            <a:ext cx="11155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2F6B"/>
                </a:solidFill>
                <a:latin typeface="Microsoft JhengHei"/>
              </a:rPr>
              <a:t>💡  δ 越接近 1 → 品質越好，但收斂越慢；δ = 3/4 為原始 LLL 設定。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LLL 的威力與限制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3 · Slide 18 / 38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8872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威力：多項式時間內找到近似最短向量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這在 1982 年是突破性成果，此前無已知多項式時間方法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應用：低指數 RSA 攻擊、knapsack 密碼破解、格密碼分析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限制：近似因子 2^(n/2) 太大，不足以破解格密碼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現代格密碼 n ≥ 256，近似因子 ≈ 2^128，完全無法攻擊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LLL 只做相鄰向量對的「局部交換」，無法跳脫局部極值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改進方向：增大「窗口大小」做更全域的搜尋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→ BKZ 演算法（Block Korkine-Zolotarev）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以 β-維 SVP oracle 為子程序，做更大範圍的 reduction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925312"/>
            <a:ext cx="11430000" cy="53035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952744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2F6B"/>
                </a:solidFill>
                <a:latin typeface="Microsoft JhengHei"/>
              </a:rPr>
              <a:t>💡  LLL 是格密碼分析與弱參數攻擊的標準工具，但不足以破解設計良好的格密碼。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BKZ 演算法（Block Korkine-Zolotarev）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3 · Slide 19 / 38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070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2F6B"/>
                </a:solidFill>
                <a:latin typeface="Microsoft JhengHei"/>
              </a:rPr>
              <a:t>核心想法：用 β-維 SVP oracle 作為 subroutine，對每個 β×β 視窗做 reduction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515600" cy="9144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719072"/>
            <a:ext cx="73152" cy="91440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764792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6B3A"/>
                </a:solidFill>
                <a:latin typeface="Times New Roman"/>
              </a:rPr>
              <a:t>近似因子  ≈  β^(n/(2β)) · poly(n)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834640"/>
            <a:ext cx="2011680" cy="384048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88036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2F6B"/>
                </a:solidFill>
                <a:latin typeface="Times New Roman"/>
              </a:rPr>
              <a:t>β =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880360"/>
            <a:ext cx="8869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Microsoft JhengHei"/>
              </a:rPr>
              <a:t>LLL（相鄰兩向量對）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310128"/>
            <a:ext cx="2011680" cy="384048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35584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2F6B"/>
                </a:solidFill>
                <a:latin typeface="Times New Roman"/>
              </a:rPr>
              <a:t>β = 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355848"/>
            <a:ext cx="8869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Microsoft JhengHei"/>
              </a:rPr>
              <a:t>精確 SVP（指數時間，全域最佳）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785616"/>
            <a:ext cx="2011680" cy="384048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83133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2F6B"/>
                </a:solidFill>
                <a:latin typeface="Times New Roman"/>
              </a:rPr>
              <a:t>β = 20~40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831336"/>
            <a:ext cx="8869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Microsoft JhengHei"/>
              </a:rPr>
              <a:t>實務格密碼攻擊主力（BKZ-20 至 BKZ-40）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4343400"/>
            <a:ext cx="10515600" cy="9144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343400"/>
            <a:ext cx="73152" cy="91440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3891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2F6B"/>
                </a:solidFill>
                <a:latin typeface="Times New Roman"/>
              </a:rPr>
              <a:t>時間複雜度：2^O(β log β) per tour × poly(n) tours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5440680"/>
            <a:ext cx="10515600" cy="59436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" y="5440680"/>
            <a:ext cx="64008" cy="59436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532120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3A"/>
                </a:solidFill>
                <a:latin typeface="Microsoft JhengHei"/>
              </a:rPr>
              <a:t>實務意義：β 越大 → 越接近精確 SVP → 攻擊能力越強，但計算成本指數增長。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Sieving — 精確求解 SVP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3 · Slide 20 / 38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8872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基本想法：隨機取大量格點，利用「加減得更短向量」迭代篩選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若 v₁, v₂ 是格點且 ‖v₁ ± v₂‖ &lt; ‖v₁‖，則以 v₁ ± v₂ 取代 v₁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迭代至收斂 → 得到最短向量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AKS Sieve（2002）：首個 2^O(n) 時間的精確 SVP 演算法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理論突破：精確 SVP 從此有明確的指數上界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GaussSieve、ListSieve：實務更快的變體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GaussSieve：每步以高斯篩法減少候選向量數量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空間複雜度：2^O(n)（儲存大量格點是主要瓶頸）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量子 Sieving：BDGL 2016，時間 2^(0.265n)，仍指數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量子加速有限：指數底數從 0.415 降至 0.265，但無法突破指數壁壘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925312"/>
            <a:ext cx="11430000" cy="53035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952744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2F6B"/>
                </a:solidFill>
                <a:latin typeface="Microsoft JhengHei"/>
              </a:rPr>
              <a:t>💡  Sieving 是目前精確求解高維 SVP 的最佳實作方法，但空間是最大障礙。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求解策略比較表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3 · Slide 21 / 38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261872"/>
            <a:ext cx="11338560" cy="621792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38988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JhengHei"/>
              </a:rPr>
              <a:t>演算法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38988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JhengHei"/>
              </a:rPr>
              <a:t>目標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27832" y="138988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JhengHei"/>
              </a:rPr>
              <a:t>時間複雜度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85232" y="138988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JhengHei"/>
              </a:rPr>
              <a:t>近似因子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138988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JhengHei"/>
              </a:rPr>
              <a:t>備註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020824"/>
            <a:ext cx="1133856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" y="21488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Microsoft JhengHei"/>
              </a:rPr>
              <a:t>LLL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64792" y="2148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Microsoft JhengHei"/>
              </a:rPr>
              <a:t>approx SVP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27832" y="21488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6B3A"/>
                </a:solidFill>
                <a:latin typeface="Microsoft JhengHei"/>
              </a:rPr>
              <a:t>poly(n, log B)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85232" y="21488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Microsoft JhengHei"/>
              </a:rPr>
              <a:t>2^(n/2)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16952" y="21488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Microsoft JhengHei"/>
              </a:rPr>
              <a:t>多項式時間，1982 年突破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2779776"/>
            <a:ext cx="11338560" cy="66751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" y="2907792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Microsoft JhengHei"/>
              </a:rPr>
              <a:t>BKZ-β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64792" y="290779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Microsoft JhengHei"/>
              </a:rPr>
              <a:t>approx SVP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27832" y="290779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Microsoft JhengHei"/>
              </a:rPr>
              <a:t>2^O(β log β)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5232" y="290779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Microsoft JhengHei"/>
              </a:rPr>
              <a:t>β^(n/(2β))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16952" y="290779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Microsoft JhengHei"/>
              </a:rPr>
              <a:t>實務攻擊主力工具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538727"/>
            <a:ext cx="1133856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" y="3666744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Microsoft JhengHei"/>
              </a:rPr>
              <a:t>Sieving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64792" y="366674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Microsoft JhengHei"/>
              </a:rPr>
              <a:t>exact SVP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27832" y="3666744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Microsoft JhengHei"/>
              </a:rPr>
              <a:t>2^O(n)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85232" y="366674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6B3A"/>
                </a:solidFill>
                <a:latin typeface="Microsoft JhengHei"/>
              </a:rPr>
              <a:t>1（精確）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16952" y="3666744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Microsoft JhengHei"/>
              </a:rPr>
              <a:t>空間瓶頸 2^O(n)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4297679"/>
            <a:ext cx="11338560" cy="66751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4632" y="4425695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Microsoft JhengHei"/>
              </a:rPr>
              <a:t>Babai Round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64792" y="4425695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Microsoft JhengHei"/>
              </a:rPr>
              <a:t>approx CVP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27832" y="4425695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6B3A"/>
                </a:solidFill>
                <a:latin typeface="Microsoft JhengHei"/>
              </a:rPr>
              <a:t>poly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85232" y="4425695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030"/>
                </a:solidFill>
                <a:latin typeface="Microsoft JhengHei"/>
              </a:rPr>
              <a:t>指數誤差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16952" y="4425695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Microsoft JhengHei"/>
              </a:rPr>
              <a:t>good basis 才有用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5056631"/>
            <a:ext cx="1133856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4632" y="5184647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Microsoft JhengHei"/>
              </a:rPr>
              <a:t>Babai NP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64792" y="5184647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Microsoft JhengHei"/>
              </a:rPr>
              <a:t>BDD (CVP)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27832" y="5184647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6B3A"/>
                </a:solidFill>
                <a:latin typeface="Microsoft JhengHei"/>
              </a:rPr>
              <a:t>poly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85232" y="5184647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6B3A"/>
                </a:solidFill>
                <a:latin typeface="Microsoft JhengHei"/>
              </a:rPr>
              <a:t>精確（BDD 條件）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16952" y="5184647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6B3A"/>
                </a:solidFill>
                <a:latin typeface="Microsoft JhengHei"/>
              </a:rPr>
              <a:t>dist &lt; λ₁/2 精確解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6126480"/>
            <a:ext cx="11430000" cy="384048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615391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2F6B"/>
                </a:solidFill>
                <a:latin typeface="Microsoft JhengHei"/>
              </a:rPr>
              <a:t>💡  BKZ-β 是格密碼攻擊的事實標準；Sieving 提供 SVP oracle；Babai NP 解 BDD（LWE 解碼）。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CVP 求解 — Babai 演算法（1986）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3 · Slide 22 / 38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207008"/>
            <a:ext cx="5394960" cy="448056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207008"/>
            <a:ext cx="64008" cy="448056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28016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2F6B"/>
                </a:solidFill>
                <a:latin typeface="Microsoft JhengHei"/>
              </a:rPr>
              <a:t>Babai Rounding（四捨五入法）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37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▸  計算坐標：c = B⁻¹ 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94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▸  對每個分量四捨五入：c̃ᵢ = round(cᵢ)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651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▸  格點近似：x̃ = B c̃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08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▸  快速（O(n²)），但近似因子差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566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▸  歪斜 basis 下誤差極大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023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▸  只適用於「接近正交」的 basis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1207008"/>
            <a:ext cx="5394960" cy="448056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1207008"/>
            <a:ext cx="64008" cy="448056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28016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3A"/>
                </a:solidFill>
                <a:latin typeface="Microsoft JhengHei"/>
              </a:rPr>
              <a:t>Babai Nearest Plane（最近超平面法）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1737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▸  遞推投影，逐維修正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194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▸  從第 n 維到第 1 維逐步決定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651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▸  每步投影至超平面，選最近一側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108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▸  在 good basis 下精確求解 BDD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566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▸  dist(y, Λ) &lt; λ₁/2 時精確解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023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▸  複雜度：poly(n)，實用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5779008"/>
            <a:ext cx="11338560" cy="566928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" y="5779008"/>
            <a:ext cx="64008" cy="566928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6B3A"/>
                </a:solidFill>
                <a:latin typeface="Microsoft JhengHei"/>
              </a:rPr>
              <a:t>BDD 的關鍵：當 dist(y, Λ) &lt; λ₁/2 時，Babai Nearest Plane 給出精確 CVP 解。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BDD → LWE 安全性連結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3 · Slide 23 / 38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07008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2F6B"/>
                </a:solidFill>
                <a:latin typeface="Microsoft JhengHei"/>
              </a:rPr>
              <a:t>LWE 樣本的幾何解釋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691640"/>
            <a:ext cx="10515600" cy="9144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691640"/>
            <a:ext cx="73152" cy="91440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73736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A6B3A"/>
                </a:solidFill>
                <a:latin typeface="Times New Roman"/>
              </a:rPr>
              <a:t>LWE 樣本：b = As + e（帶雜訊）≡ 找 Λ(A) 中離 b 最近的格點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788920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2F6B"/>
                </a:solidFill>
                <a:latin typeface="Microsoft JhengHei"/>
              </a:rPr>
              <a:t>歸約鏈 / Reduction Chain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273552"/>
            <a:ext cx="10515600" cy="9144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73552"/>
            <a:ext cx="73152" cy="91440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319272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D2F6B"/>
                </a:solidFill>
                <a:latin typeface="Times New Roman"/>
              </a:rPr>
              <a:t>LWE  ←  BDD  ←  CVP  ←  SVP
（左邊問題困難 ← 右邊問題更基礎困難）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37083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50A0"/>
                </a:solidFill>
                <a:latin typeface="Microsoft JhengHei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370832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Microsoft JhengHei"/>
              </a:rPr>
              <a:t>若能解 BDD → 能解 LWE → 破解後量子密碼（Kyber、Dilithium）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846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50A0"/>
                </a:solidFill>
                <a:latin typeface="Microsoft JhengHei"/>
              </a:rPr>
              <a:t>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846320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Microsoft JhengHei"/>
              </a:rPr>
              <a:t>困難性：雜訊量 ‖e‖ &lt; λ₁/2 使 BDD 精確可解，但找對應格基很難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32180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50A0"/>
                </a:solidFill>
                <a:latin typeface="Microsoft JhengHei"/>
              </a:rPr>
              <a:t>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321808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Microsoft JhengHei"/>
              </a:rPr>
              <a:t>攻擊者能做的：用 BKZ 改善 basis，試圖讓 BDD 問題可解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797296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50A0"/>
                </a:solidFill>
                <a:latin typeface="Microsoft JhengHei"/>
              </a:rPr>
              <a:t>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797296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Microsoft JhengHei"/>
              </a:rPr>
              <a:t>安全參數設計：選 n, q, χ 使得最好的 BKZ 攻擊仍需 2^128 操作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6172200"/>
            <a:ext cx="11430000" cy="384048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19963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6B3A"/>
                </a:solidFill>
                <a:latin typeface="Microsoft JhengHei"/>
              </a:rPr>
              <a:t>💡  SVP 困難 = LWE 安全：這是格密碼學安全性的幾何根源。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安全參數選擇（Concrete Security）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3 · Slide 24 / 38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8872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攻擊者用 BKZ-β 破解需要 2^Ω(β) 計算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選擇安全參數 = 讓最優 β 仍需超過目標安全等級的計算量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NIST 安全等級 1（≈ AES-128）：需要 2^128 次 BKZ 操作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Kyber-512：n = 256，q = 3329，攻擊難度 ≈ 2^118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LWE 維度 n = 256，Ring-LWE 環維度 = 256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Kyber-768：n = 384，更保守，攻擊難度 ≈ 2^182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公鑰約 1184 bytes，密文約 1088 bytes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選參數的三角平衡：n（維度）、q（模數）、χ（雜訊分布）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n 越大 → 越安全，但公鑰越大；q 越小 → 雜訊影響越大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最終目標：用最小 n 達到目標安全等級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925312"/>
            <a:ext cx="11430000" cy="53035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952744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2F6B"/>
                </a:solidFill>
                <a:latin typeface="Microsoft JhengHei"/>
              </a:rPr>
              <a:t>💡  安全參數的選擇是理論（歸約）與實務（BKZ 估算）的交匯點。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Section 3 小結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3 · Slide 25 / 38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8872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LLL：多項式時間，近似因子 2^(n/2)，分析弱密碼與歷史攻擊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BKZ-β：實務格密碼攻擊主力，近似因子 β^(n/(2β))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β 越大越強；BKZ-20 至 BKZ-40 為當前 NIST 參數估算標準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Sieving：精確 SVP，時間空間皆 2^O(n)，量子加速至 2^(0.265n)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Babai NP：BDD 精確求解 CVP，LWE 解碼的幾何核心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dist(y, Λ) &lt; λ₁/2 條件下，good basis 給出精確解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SVP/CVP 困難性 → LWE/Ring-LWE 安全性（歸約鏈）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NIST Kyber（FIPS 203）與 Dilithium（FIPS 204）的安全基礎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55448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B88600"/>
                </a:solidFill>
                <a:latin typeface="Microsoft JhengHei"/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Microsoft JhengHei"/>
              </a:rPr>
              <a:t>Minkowski 定理與幾何基礎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1480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D6E4F7"/>
                </a:solidFill>
                <a:latin typeface="Times New Roman"/>
              </a:rPr>
              <a:t>Minkowski's Theorem and Geometry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02920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6E4F7"/>
                </a:solidFill>
                <a:latin typeface="Microsoft JhengHei"/>
              </a:rPr>
              <a:t>⏱  5 分鐘 / minutes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Minkowski 第一定理（1889）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4 · Slide 27 / 38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34440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2F6B"/>
                </a:solidFill>
                <a:latin typeface="Microsoft JhengHei"/>
              </a:rPr>
              <a:t>幾何數論的奠基定理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37360"/>
            <a:ext cx="10515600" cy="150876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737360"/>
            <a:ext cx="73152" cy="150876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810512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6B3A"/>
                </a:solidFill>
                <a:latin typeface="Times New Roman"/>
              </a:rPr>
              <a:t>Theorem (Minkowski, 1889).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2402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Microsoft JhengHei"/>
              </a:rPr>
              <a:t>若 S ⊂ ℝⁿ 為中心對稱凸體，且 vol(S) &gt; 2ⁿ · det(𝓛)，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6700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Microsoft JhengHei"/>
              </a:rPr>
              <a:t>則 S 含有非零格點 v ∈ 𝓛 ∩ S \ {0}。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493008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6B"/>
                </a:solidFill>
                <a:latin typeface="Microsoft JhengHei"/>
              </a:rPr>
              <a:t>三個關鍵詞 / Three keywords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005072"/>
            <a:ext cx="2377440" cy="4114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050791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2F6B"/>
                </a:solidFill>
                <a:latin typeface="Microsoft JhengHei"/>
              </a:rPr>
              <a:t>中心對稱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050791"/>
            <a:ext cx="7955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icrosoft JhengHei"/>
              </a:rPr>
              <a:t>centrally symmetric：x ∈ S ⟹ −x ∈ 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507992"/>
            <a:ext cx="2377440" cy="4114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5537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2F6B"/>
                </a:solidFill>
                <a:latin typeface="Microsoft JhengHei"/>
              </a:rPr>
              <a:t>凸體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4553712"/>
            <a:ext cx="7955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icrosoft JhengHei"/>
              </a:rPr>
              <a:t>convex body：任兩點線段含於 S；S 為有界閉集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5010912"/>
            <a:ext cx="2377440" cy="4114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0566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2F6B"/>
                </a:solidFill>
                <a:latin typeface="Microsoft JhengHei"/>
              </a:rPr>
              <a:t>體積條件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5056632"/>
            <a:ext cx="7955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icrosoft JhengHei"/>
              </a:rPr>
              <a:t>vol(S) &gt; 2ⁿ · det(𝓛) 為臨界條件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943600"/>
            <a:ext cx="11430000" cy="53035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9710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2F6B"/>
                </a:solidFill>
                <a:latin typeface="Microsoft JhengHei"/>
              </a:rPr>
              <a:t>💡  下兩張投影片將套用此定理推導 SVP 上界 λ₁(Λ) ≤ √n · det(Λ)^(1/n)。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SVP 上界推導（Minkowski → λ₁ 上界）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4 · Slide 28 / 38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07008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6B"/>
                </a:solidFill>
                <a:latin typeface="Microsoft JhengHei"/>
              </a:rPr>
              <a:t>Step 1：取中心對稱立方體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691640"/>
            <a:ext cx="10515600" cy="9144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691640"/>
            <a:ext cx="73152" cy="91440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73736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6B3A"/>
                </a:solidFill>
                <a:latin typeface="Times New Roman"/>
              </a:rPr>
              <a:t>Cᵣ := [−r, r]ⁿ,  vol(Cᵣ) = (2r)ⁿ &gt; 2ⁿ det(Λ)  ⟺  r &gt; det(Λ)^(1/n)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788920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6B"/>
                </a:solidFill>
                <a:latin typeface="Microsoft JhengHei"/>
              </a:rPr>
              <a:t>Step 2：範數不等式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264408"/>
            <a:ext cx="10515600" cy="841248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64408"/>
            <a:ext cx="73152" cy="841248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310127"/>
            <a:ext cx="10241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2F6B"/>
                </a:solidFill>
                <a:latin typeface="Times New Roman"/>
              </a:rPr>
              <a:t>‖v‖∞ ≤ r  ⟹  ‖v‖₂ ≤ √n · ‖v‖∞ ≤ √n · 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2519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Microsoft JhengHei"/>
              </a:rPr>
              <a:t>令 r ↘ det(Λ)^(1/n)，得結論：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709160"/>
            <a:ext cx="10515600" cy="91440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4709160"/>
            <a:ext cx="73152" cy="91440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864608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A6B3A"/>
                </a:solidFill>
                <a:latin typeface="Times New Roman"/>
              </a:rPr>
              <a:t>λ₁(Λ)  ≤  √n  ·  det(Λ)^(1/n)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961888"/>
            <a:ext cx="11430000" cy="50292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989320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2F6B"/>
                </a:solidFill>
                <a:latin typeface="Microsoft JhengHei"/>
              </a:rPr>
              <a:t>💡  Hermite 常數 γₙ 給更緊版本：λ₁² ≤ γₙ det(Λ)^(2/n)，γₙ ≤ 2n/πe + o(n)。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Minkowski 定理 — 視覺化 (n =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4 · Slide 29 / 38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070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2F6B"/>
                </a:solidFill>
                <a:latin typeface="Microsoft JhengHei"/>
              </a:rPr>
              <a:t>整數格 Λ = ℤ² 與中心對稱凸體（圓盤）：臨界體積 = 2² det(Λ) = 4</a:t>
            </a:r>
          </a:p>
        </p:txBody>
      </p:sp>
      <p:pic>
        <p:nvPicPr>
          <p:cNvPr id="10" name="Picture 9" descr="minkowski_v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476" y="1691640"/>
            <a:ext cx="9144000" cy="471003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65760" y="6035040"/>
            <a:ext cx="11430000" cy="4114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05332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2F6B"/>
                </a:solidFill>
                <a:latin typeface="Microsoft JhengHei"/>
              </a:rPr>
              <a:t>💡  (a) vol(S) ≤ 4：S 可能只含原點。  (b) vol(S) &gt; 4：S 必含非零格點 v ∈ Λ \ {0}。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Minkowski 定理的意義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4 · Slide 30 / 38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8872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連結覆積（幾何）與最短向量（算術）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det(Λ) 越大（基本胞越大）→ λ₁ 也可以更大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幾何（面積/體積）與數論（格點距離）的橋樑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給出格密碼安全參數的理論下界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λ₁ 越大 → 格越「稀疏」→ SVP 越難 → 密碼越安全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設計格密碼時，選參數使 λ₁ 遠超攻擊演算法的求解能力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反向應用：攻擊分析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Minkowski 界是 λ₁ 的理論上界，幫助估算攻擊難度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Hermite 因子衡量 LLL/BKZ 輸出品質：‖b₁‖ / det(Λ)^(1/n)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925312"/>
            <a:ext cx="11430000" cy="53035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952744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2F6B"/>
                </a:solidFill>
                <a:latin typeface="Microsoft JhengHei"/>
              </a:rPr>
              <a:t>💡  Minkowski 定理是格密碼安全參數設計的理論基礎，也是 Course Objective 5。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55448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B88600"/>
                </a:solidFill>
                <a:latin typeface="Microsoft JhengHei"/>
              </a:rP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Microsoft JhengHei"/>
              </a:rPr>
              <a:t>應用與開放問題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1480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D6E4F7"/>
                </a:solidFill>
                <a:latin typeface="Times New Roman"/>
              </a:rPr>
              <a:t>Applications and Open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02920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6E4F7"/>
                </a:solidFill>
                <a:latin typeface="Microsoft JhengHei"/>
              </a:rPr>
              <a:t>⏱  5 分鐘 / minutes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NIST 後量子標準（2024 年 8 月公布）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5 · Slide 32 / 38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88720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Microsoft JhengHei"/>
              </a:rPr>
              <a:t>歷時 8 年的全球競賽（2016–2024）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691640"/>
            <a:ext cx="10515600" cy="192024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691640"/>
            <a:ext cx="73152" cy="192024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783080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6B3A"/>
                </a:solidFill>
                <a:latin typeface="Microsoft JhengHei"/>
              </a:rPr>
              <a:t>FIPS 203 — 金鑰交換 / Key Encapsulation (ML-KEM = Kyber)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212848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Microsoft JhengHei"/>
              </a:rPr>
              <a:t>▸ 後量子版本的 RSA / Diffie–Hellman 握手；用於建立加密通道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578608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Microsoft JhengHei"/>
              </a:rPr>
              <a:t>▸ 數學基礎：Module-LWE（Ring-LWE 的模組化推廣）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944368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Microsoft JhengHei"/>
              </a:rPr>
              <a:t>▸ 公鑰約 800 bytes，密文約 1 KB；速度快於 RSA-2048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749039"/>
            <a:ext cx="10515600" cy="192024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3749039"/>
            <a:ext cx="73152" cy="192024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840480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50A0"/>
                </a:solidFill>
                <a:latin typeface="Microsoft JhengHei"/>
              </a:rPr>
              <a:t>FIPS 204 — 數位簽章 / Digital Signature (ML-DSA = Dilithium)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2519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Microsoft JhengHei"/>
              </a:rPr>
              <a:t>▸ 後量子版本的 RSA / ECDSA 簽章；用於 TLS 憑證、軟體簽章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61772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Microsoft JhengHei"/>
              </a:rPr>
              <a:t>▸ 數學基礎：Module-LWE / Module-SIS（SVP/CVP 困難性）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9834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Microsoft JhengHei"/>
              </a:rPr>
              <a:t>▸ 簽章約 2.4 KB，公鑰約 1.3 KB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961888"/>
            <a:ext cx="11430000" cy="50292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989320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2F6B"/>
                </a:solidFill>
                <a:latin typeface="Microsoft JhengHei"/>
              </a:rPr>
              <a:t>💡  SVP/CVP 困難性是 Kyber 與 Dilithium 安全性的幾何根基，也是本報告的主題。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開放問題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5 · Slide 33 / 38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8872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SVP/CVP 的量子複雜度下界是否為 2^Ω(n)？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目前只有 2^O(n) 上界（Sieving），下界幾乎未知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LLL/BKZ 的精確最壞情形複雜度？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BKZ 實作行為（tour 數）遠優於理論上界，缺乏精確分析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Ideal-SVP vs SVP：理想格是否真的比任意格容易？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目前無已知演算法可利用理想格結構加速，但歸約仍較弱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Classical worst-case → average-case 歸約？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Regev 歸約為量子的；古典版本至今仍是開放問題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格密碼 vs 其他 PQC：NTRU、McEliece、Hash-based 的比較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McEliece：超大公鑰；Hash-based：簽章大；NTRU：參數選擇複雜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925312"/>
            <a:ext cx="11430000" cy="53035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952744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2F6B"/>
                </a:solidFill>
                <a:latin typeface="Microsoft JhengHei"/>
              </a:rPr>
              <a:t>💡  格密碼學在理論與實作上都有大量未解問題，是當前最活躍的研究方向之一。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45720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9728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  <a:latin typeface="Times New Roman"/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14884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D6E4F7"/>
                </a:solidFill>
                <a:latin typeface="Microsoft JhengHei"/>
              </a:rPr>
              <a:t>感謝聆聽 · 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20040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B88600"/>
                </a:solidFill>
                <a:latin typeface="Microsoft JhengHei"/>
              </a:rPr>
              <a:t>核心問題鏈 / Core Problem 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65760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D6E4F7"/>
                </a:solidFill>
                <a:latin typeface="Microsoft JhengHei"/>
              </a:rPr>
              <a:t>SVP/CVP 困難  →  LWE/Ring-LWE  →  NIST PQC 標準（Kyber / Dilithium）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11480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D6E4F7"/>
                </a:solidFill>
                <a:latin typeface="Microsoft JhengHei"/>
              </a:rPr>
              <a:t>Minkowski 定理  →  λ₁ 上界  →  安全參數設計的理論基礎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09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B88600"/>
                </a:solidFill>
                <a:latin typeface="Microsoft JhengHei"/>
              </a:rPr>
              <a:t>主要參考文獻 / Main References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02352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6E4F7"/>
                </a:solidFill>
                <a:latin typeface="Times New Roman"/>
              </a:rPr>
              <a:t>O. Regev, "On lattices, learning with errors, random linear codes, and cryptography." J. ACM 56(6), 2009.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49240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6E4F7"/>
                </a:solidFill>
                <a:latin typeface="Times New Roman"/>
              </a:rPr>
              <a:t>M. Ajtai, "Generating hard instances of lattice problems." STOC 1996.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596128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6E4F7"/>
                </a:solidFill>
                <a:latin typeface="Times New Roman"/>
              </a:rPr>
              <a:t>D. Micciancio &amp; S. Goldwasser, "Complexity of Lattice Problems." Kluwer, 2002.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43016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6E4F7"/>
                </a:solidFill>
                <a:latin typeface="Times New Roman"/>
              </a:rPr>
              <a:t>NIST FIPS 203 / 204, 2024.    ·    D. Micciancio &amp; O. Regev, "Lattice-based cryptography." PQC, 2009.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6E4F7"/>
                </a:solidFill>
                <a:latin typeface="Microsoft JhengHei"/>
              </a:rPr>
              <a:t>黃崇晉  ·  L16141149  ·  數論（一）  ·  2026 春季  ·  國立成功大學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