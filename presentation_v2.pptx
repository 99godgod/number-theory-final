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2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00"/>
            <a:ext cx="12188952" cy="45720"/>
          </a:xfrm>
          <a:prstGeom prst="rect">
            <a:avLst/>
          </a:prstGeom>
          <a:solidFill>
            <a:srgbClr val="B88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554480"/>
            <a:ext cx="121889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>
                <a:solidFill>
                  <a:srgbClr val="FFFFFF"/>
                </a:solidFill>
                <a:latin typeface="Times New Roman"/>
              </a:rPr>
              <a:t>Ring-LWE and Ideal Lattice Cryptography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2606040"/>
            <a:ext cx="121889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D6E4F7"/>
                </a:solidFill>
                <a:latin typeface="Microsoft JhengHei"/>
              </a:rPr>
              <a:t>Ring-LWE 與理想格密碼學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3520440"/>
            <a:ext cx="121889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D6E4F7"/>
                </a:solidFill>
                <a:latin typeface="Times New Roman"/>
              </a:rPr>
              <a:t>Algebraic Number Theory Meets Post-Quantum Security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977639"/>
            <a:ext cx="121889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D6E4F7"/>
                </a:solidFill>
                <a:latin typeface="Microsoft JhengHei"/>
              </a:rPr>
              <a:t>代數數論與後量子安全的交匯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4846320"/>
            <a:ext cx="121889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JhengHei"/>
              </a:rPr>
              <a:t>黃崇晉 (Chung-Chin Huang)  ·  L16141149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5303520"/>
            <a:ext cx="121889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D6E4F7"/>
                </a:solidFill>
                <a:latin typeface="Microsoft JhengHei"/>
              </a:rPr>
              <a:t>數論（一） · 2026 春季 · 國立成功大學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5669280"/>
            <a:ext cx="121889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D6E4F7"/>
                </a:solidFill>
                <a:latin typeface="Times New Roman"/>
              </a:rPr>
              <a:t>Number Theory (I)  ·  Spring 2026  ·  NCKU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2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12188952" cy="45720"/>
          </a:xfrm>
          <a:prstGeom prst="rect">
            <a:avLst/>
          </a:prstGeom>
          <a:solidFill>
            <a:srgbClr val="B88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554480"/>
            <a:ext cx="121889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B88600"/>
                </a:solidFill>
                <a:latin typeface="Microsoft JhengHei"/>
              </a:rPr>
              <a:t>Section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017520"/>
            <a:ext cx="121889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Microsoft JhengHei"/>
              </a:rPr>
              <a:t>為什麼需要後量子密碼學？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114800"/>
            <a:ext cx="121889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D6E4F7"/>
                </a:solidFill>
                <a:latin typeface="Times New Roman"/>
              </a:rPr>
              <a:t>Why Do We Need Post-Quantum Cryptography?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5029200"/>
            <a:ext cx="121889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D6E4F7"/>
                </a:solidFill>
                <a:latin typeface="Microsoft JhengHei"/>
              </a:rPr>
              <a:t>⏱  10 分鐘 / minutes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2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icrosoft JhengHei"/>
              </a:rPr>
              <a:t>RSA — 整數分解問題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6E4F7"/>
                </a:solidFill>
                <a:latin typeface="Microsoft JhengHei"/>
              </a:rPr>
              <a:t>Section 1 · Slide 3 / 41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51560"/>
            <a:ext cx="12188952" cy="36576"/>
          </a:xfrm>
          <a:prstGeom prst="rect">
            <a:avLst/>
          </a:prstGeom>
          <a:solidFill>
            <a:srgbClr val="B88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1967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Microsoft JhengHei"/>
              </a:rPr>
              <a:t>黃崇晉 L16141149 | 數論（一）| 2026 春季 | 國立成功大學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188720"/>
            <a:ext cx="113385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900" b="1">
                <a:solidFill>
                  <a:srgbClr val="1E50A0"/>
                </a:solidFill>
                <a:latin typeface="Microsoft JhengHei"/>
              </a:rPr>
              <a:t>▶  RSA (Rivest–Shamir–Adleman, 1977)</a:t>
            </a:r>
          </a:p>
          <a:p>
            <a:pPr>
              <a:spcBef>
                <a:spcPts val="200"/>
              </a:spcBef>
            </a:pPr>
            <a:r>
              <a:rPr sz="1700" b="0">
                <a:solidFill>
                  <a:srgbClr val="1A1A1A"/>
                </a:solidFill>
                <a:latin typeface="Microsoft JhengHei"/>
              </a:rPr>
              <a:t>    •  公鑰：N = p · q（兩大質數乘積）、e 為公鑰指數</a:t>
            </a:r>
          </a:p>
          <a:p>
            <a:pPr>
              <a:spcBef>
                <a:spcPts val="200"/>
              </a:spcBef>
            </a:pPr>
            <a:r>
              <a:rPr sz="1700" b="0">
                <a:solidFill>
                  <a:srgbClr val="1A1A1A"/>
                </a:solidFill>
                <a:latin typeface="Microsoft JhengHei"/>
              </a:rPr>
              <a:t>    •  私鑰：d 滿足  ed ≡ 1 (mod φ(N))</a:t>
            </a:r>
          </a:p>
          <a:p>
            <a:pPr>
              <a:spcBef>
                <a:spcPts val="200"/>
              </a:spcBef>
            </a:pPr>
            <a:r>
              <a:rPr sz="1700" b="0">
                <a:solidFill>
                  <a:srgbClr val="1A1A1A"/>
                </a:solidFill>
                <a:latin typeface="Microsoft JhengHei"/>
              </a:rPr>
              <a:t>    •  加密  m → c = mᵉ mod N；解密  c → m = cᵈ mod N</a:t>
            </a:r>
          </a:p>
          <a:p>
            <a:pPr>
              <a:spcBef>
                <a:spcPts val="500"/>
              </a:spcBef>
            </a:pPr>
            <a:r>
              <a:rPr sz="1900" b="1">
                <a:solidFill>
                  <a:srgbClr val="1E50A0"/>
                </a:solidFill>
                <a:latin typeface="Microsoft JhengHei"/>
              </a:rPr>
              <a:t>▶  安全性建基於 Integer Factoring Problem</a:t>
            </a:r>
          </a:p>
          <a:p>
            <a:pPr>
              <a:spcBef>
                <a:spcPts val="200"/>
              </a:spcBef>
            </a:pPr>
            <a:r>
              <a:rPr sz="1700" b="0">
                <a:solidFill>
                  <a:srgbClr val="1A1A1A"/>
                </a:solidFill>
                <a:latin typeface="Microsoft JhengHei"/>
              </a:rPr>
              <a:t>    •  已知 N，找 p, q 困難</a:t>
            </a:r>
          </a:p>
          <a:p>
            <a:pPr>
              <a:spcBef>
                <a:spcPts val="200"/>
              </a:spcBef>
            </a:pPr>
            <a:r>
              <a:rPr sz="1700" b="0">
                <a:solidFill>
                  <a:srgbClr val="1A1A1A"/>
                </a:solidFill>
                <a:latin typeface="Microsoft JhengHei"/>
              </a:rPr>
              <a:t>    •  若能分解 N，即可從公鑰算出私鑰，整個系統崩潰</a:t>
            </a:r>
          </a:p>
          <a:p>
            <a:pPr>
              <a:spcBef>
                <a:spcPts val="500"/>
              </a:spcBef>
            </a:pPr>
            <a:r>
              <a:rPr sz="1900" b="1">
                <a:solidFill>
                  <a:srgbClr val="1E50A0"/>
                </a:solidFill>
                <a:latin typeface="Microsoft JhengHei"/>
              </a:rPr>
              <a:t>▶  古典最佳演算法:General Number Field Sieve (GNFS)</a:t>
            </a:r>
          </a:p>
          <a:p>
            <a:pPr>
              <a:spcBef>
                <a:spcPts val="200"/>
              </a:spcBef>
            </a:pPr>
            <a:r>
              <a:rPr sz="1700" b="0">
                <a:solidFill>
                  <a:srgbClr val="1A1A1A"/>
                </a:solidFill>
                <a:latin typeface="Microsoft JhengHei"/>
              </a:rPr>
              <a:t>    •  次指數時間  exp(Õ((log N)^(1/3)))</a:t>
            </a:r>
          </a:p>
          <a:p>
            <a:pPr>
              <a:spcBef>
                <a:spcPts val="200"/>
              </a:spcBef>
            </a:pPr>
            <a:r>
              <a:rPr sz="1700" b="0">
                <a:solidFill>
                  <a:srgbClr val="1A1A1A"/>
                </a:solidFill>
                <a:latin typeface="Microsoft JhengHei"/>
              </a:rPr>
              <a:t>    •  目前 RSA-2048 仍認為安全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5925312"/>
            <a:ext cx="11430000" cy="530352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5952744"/>
            <a:ext cx="11155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D2F6B"/>
                </a:solidFill>
                <a:latin typeface="Microsoft JhengHei"/>
              </a:rPr>
              <a:t>💡  當前 HTTPS、銀行、SSH 等基礎設施大量依賴 RSA。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2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icrosoft JhengHei"/>
              </a:rPr>
              <a:t>ECC — 橢圓曲線離散對數問題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6E4F7"/>
                </a:solidFill>
                <a:latin typeface="Microsoft JhengHei"/>
              </a:rPr>
              <a:t>Section 1 · Slide 4 / 41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51560"/>
            <a:ext cx="12188952" cy="36576"/>
          </a:xfrm>
          <a:prstGeom prst="rect">
            <a:avLst/>
          </a:prstGeom>
          <a:solidFill>
            <a:srgbClr val="B88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1967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Microsoft JhengHei"/>
              </a:rPr>
              <a:t>黃崇晉 L16141149 | 數論（一）| 2026 春季 | 國立成功大學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188720"/>
            <a:ext cx="113385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900" b="1">
                <a:solidFill>
                  <a:srgbClr val="1E50A0"/>
                </a:solidFill>
                <a:latin typeface="Microsoft JhengHei"/>
              </a:rPr>
              <a:t>▶  Elliptic Curve Cryptography (Miller / Koblitz, 1985)</a:t>
            </a:r>
          </a:p>
          <a:p>
            <a:pPr>
              <a:spcBef>
                <a:spcPts val="200"/>
              </a:spcBef>
            </a:pPr>
            <a:r>
              <a:rPr sz="1700" b="0">
                <a:solidFill>
                  <a:srgbClr val="1A1A1A"/>
                </a:solidFill>
                <a:latin typeface="Microsoft JhengHei"/>
              </a:rPr>
              <a:t>    •  在橢圓曲線  E: y² = x³ + ax + b  上的點集成阿貝爾群</a:t>
            </a:r>
          </a:p>
          <a:p>
            <a:pPr>
              <a:spcBef>
                <a:spcPts val="200"/>
              </a:spcBef>
            </a:pPr>
            <a:r>
              <a:rPr sz="1700" b="0">
                <a:solidFill>
                  <a:srgbClr val="1A1A1A"/>
                </a:solidFill>
                <a:latin typeface="Microsoft JhengHei"/>
              </a:rPr>
              <a:t>    •  公鑰：Q = kP（純量乘法）、P 為公開生成元</a:t>
            </a:r>
          </a:p>
          <a:p>
            <a:pPr>
              <a:spcBef>
                <a:spcPts val="200"/>
              </a:spcBef>
            </a:pPr>
            <a:r>
              <a:rPr sz="1700" b="0">
                <a:solidFill>
                  <a:srgbClr val="1A1A1A"/>
                </a:solidFill>
                <a:latin typeface="Microsoft JhengHei"/>
              </a:rPr>
              <a:t>    •  私鑰：純量 k</a:t>
            </a:r>
          </a:p>
          <a:p>
            <a:pPr>
              <a:spcBef>
                <a:spcPts val="500"/>
              </a:spcBef>
            </a:pPr>
            <a:r>
              <a:rPr sz="1900" b="1">
                <a:solidFill>
                  <a:srgbClr val="1E50A0"/>
                </a:solidFill>
                <a:latin typeface="Microsoft JhengHei"/>
              </a:rPr>
              <a:t>▶  安全性:Elliptic Curve Discrete Logarithm Problem (ECDLP)</a:t>
            </a:r>
          </a:p>
          <a:p>
            <a:pPr>
              <a:spcBef>
                <a:spcPts val="200"/>
              </a:spcBef>
            </a:pPr>
            <a:r>
              <a:rPr sz="1700" b="0">
                <a:solidFill>
                  <a:srgbClr val="1A1A1A"/>
                </a:solidFill>
                <a:latin typeface="Microsoft JhengHei"/>
              </a:rPr>
              <a:t>    •  已知 P, Q = kP，求 k 困難</a:t>
            </a:r>
          </a:p>
          <a:p>
            <a:pPr>
              <a:spcBef>
                <a:spcPts val="200"/>
              </a:spcBef>
            </a:pPr>
            <a:r>
              <a:rPr sz="1700" b="0">
                <a:solidFill>
                  <a:srgbClr val="1A1A1A"/>
                </a:solidFill>
                <a:latin typeface="Microsoft JhengHei"/>
              </a:rPr>
              <a:t>    •  比 RSA 更省金鑰：256-bit ECC ≈ 3072-bit RSA</a:t>
            </a:r>
          </a:p>
          <a:p>
            <a:pPr>
              <a:spcBef>
                <a:spcPts val="500"/>
              </a:spcBef>
            </a:pPr>
            <a:r>
              <a:rPr sz="1900" b="1">
                <a:solidFill>
                  <a:srgbClr val="1E50A0"/>
                </a:solidFill>
                <a:latin typeface="Microsoft JhengHei"/>
              </a:rPr>
              <a:t>▶  古典最佳演算法:Pollard rho</a:t>
            </a:r>
          </a:p>
          <a:p>
            <a:pPr>
              <a:spcBef>
                <a:spcPts val="200"/>
              </a:spcBef>
            </a:pPr>
            <a:r>
              <a:rPr sz="1700" b="0">
                <a:solidFill>
                  <a:srgbClr val="1A1A1A"/>
                </a:solidFill>
                <a:latin typeface="Microsoft JhengHei"/>
              </a:rPr>
              <a:t>    •  O(√n) 時間（n 為群階）</a:t>
            </a:r>
          </a:p>
          <a:p>
            <a:pPr>
              <a:spcBef>
                <a:spcPts val="200"/>
              </a:spcBef>
            </a:pPr>
            <a:r>
              <a:rPr sz="1700" b="0">
                <a:solidFill>
                  <a:srgbClr val="1A1A1A"/>
                </a:solidFill>
                <a:latin typeface="Microsoft JhengHei"/>
              </a:rPr>
              <a:t>    •  256-bit 曲線目前仍認為安全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5925312"/>
            <a:ext cx="11430000" cy="530352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5952744"/>
            <a:ext cx="11155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D2F6B"/>
                </a:solidFill>
                <a:latin typeface="Microsoft JhengHei"/>
              </a:rPr>
              <a:t>💡  ECDSA 用於 TLS 憑證、區塊鏈簽章；NIST P-256、Curve25519 廣泛部署。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2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icrosoft JhengHei"/>
              </a:rPr>
              <a:t>Period Finding 尋找週期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6E4F7"/>
                </a:solidFill>
                <a:latin typeface="Microsoft JhengHei"/>
              </a:rPr>
              <a:t>Section 1 · Slide 5 / 41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51560"/>
            <a:ext cx="12188952" cy="36576"/>
          </a:xfrm>
          <a:prstGeom prst="rect">
            <a:avLst/>
          </a:prstGeom>
          <a:solidFill>
            <a:srgbClr val="B88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1967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Microsoft JhengHei"/>
              </a:rPr>
              <a:t>黃崇晉 L16141149 | 數論（一）| 2026 春季 | 國立成功大學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188720"/>
            <a:ext cx="113385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900" b="1">
                <a:solidFill>
                  <a:srgbClr val="1E50A0"/>
                </a:solidFill>
                <a:latin typeface="Microsoft JhengHei"/>
              </a:rPr>
              <a:t>▶  週期函數定義 / Periodic function</a:t>
            </a:r>
          </a:p>
          <a:p>
            <a:pPr>
              <a:spcBef>
                <a:spcPts val="200"/>
              </a:spcBef>
            </a:pPr>
            <a:r>
              <a:rPr sz="1700" b="0">
                <a:solidFill>
                  <a:srgbClr val="1A1A1A"/>
                </a:solidFill>
                <a:latin typeface="Microsoft JhengHei"/>
              </a:rPr>
              <a:t>    •  f : (x₁, …, xₙ) ↦ f(x₁, …, xₙ) 為 (ω₁, …, ωₙ)-週期，若</a:t>
            </a:r>
          </a:p>
          <a:p>
            <a:pPr>
              <a:spcBef>
                <a:spcPts val="200"/>
              </a:spcBef>
            </a:pPr>
            <a:r>
              <a:rPr sz="1700" b="0">
                <a:solidFill>
                  <a:srgbClr val="1A1A1A"/>
                </a:solidFill>
                <a:latin typeface="Microsoft JhengHei"/>
              </a:rPr>
              <a:t>    •  f(x₁ + ω₁, …, xₙ + ωₙ) = f(x₁, …, xₙ)  對所有 (x₁, …, xₙ) ∈ dom(f) 成立</a:t>
            </a:r>
          </a:p>
          <a:p>
            <a:pPr>
              <a:spcBef>
                <a:spcPts val="500"/>
              </a:spcBef>
            </a:pPr>
            <a:r>
              <a:rPr sz="1900" b="1">
                <a:solidFill>
                  <a:srgbClr val="1E50A0"/>
                </a:solidFill>
                <a:latin typeface="Microsoft JhengHei"/>
              </a:rPr>
              <a:t>▶  為什麼重要？</a:t>
            </a:r>
          </a:p>
          <a:p>
            <a:pPr>
              <a:spcBef>
                <a:spcPts val="200"/>
              </a:spcBef>
            </a:pPr>
            <a:r>
              <a:rPr sz="1700" b="0">
                <a:solidFill>
                  <a:srgbClr val="1A1A1A"/>
                </a:solidFill>
                <a:latin typeface="Microsoft JhengHei"/>
              </a:rPr>
              <a:t>    •  量子電腦擅長尋找週期函數的週期 (period finding)</a:t>
            </a:r>
          </a:p>
          <a:p>
            <a:pPr>
              <a:spcBef>
                <a:spcPts val="200"/>
              </a:spcBef>
            </a:pPr>
            <a:r>
              <a:rPr sz="1700" b="0">
                <a:solidFill>
                  <a:srgbClr val="1A1A1A"/>
                </a:solidFill>
                <a:latin typeface="Microsoft JhengHei"/>
              </a:rPr>
              <a:t>    •  Quantum Fourier Transform (QFT) 可在多項式時間求週期</a:t>
            </a:r>
          </a:p>
          <a:p>
            <a:pPr>
              <a:spcBef>
                <a:spcPts val="200"/>
              </a:spcBef>
            </a:pPr>
            <a:r>
              <a:rPr sz="1700" b="0">
                <a:solidFill>
                  <a:srgbClr val="1A1A1A"/>
                </a:solidFill>
                <a:latin typeface="Microsoft JhengHei"/>
              </a:rPr>
              <a:t>    •  Shor 演算法的核心子程序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5925312"/>
            <a:ext cx="11430000" cy="530352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5952744"/>
            <a:ext cx="11155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D2F6B"/>
                </a:solidFill>
                <a:latin typeface="Microsoft JhengHei"/>
              </a:rPr>
              <a:t>💡  Period finding 是 Shor 演算法擊垮 RSA / ECC 的「關鍵齒輪」。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2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icrosoft JhengHei"/>
              </a:rPr>
              <a:t>Integer Factoring 質因數分解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6E4F7"/>
                </a:solidFill>
                <a:latin typeface="Microsoft JhengHei"/>
              </a:rPr>
              <a:t>Section 1 · Slide 6 / 41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51560"/>
            <a:ext cx="12188952" cy="36576"/>
          </a:xfrm>
          <a:prstGeom prst="rect">
            <a:avLst/>
          </a:prstGeom>
          <a:solidFill>
            <a:srgbClr val="B88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1967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Microsoft JhengHei"/>
              </a:rPr>
              <a:t>黃崇晉 L16141149 | 數論（一）| 2026 春季 | 國立成功大學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23444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D2F6B"/>
                </a:solidFill>
                <a:latin typeface="Microsoft JhengHei"/>
              </a:rPr>
              <a:t>[Factorization Problem] 給定 RSA 模數 N = p · q，求質數 p, q。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82880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E50A0"/>
                </a:solidFill>
                <a:latin typeface="Microsoft JhengHei"/>
              </a:rPr>
              <a:t>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1828800"/>
            <a:ext cx="10241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1A"/>
                </a:solidFill>
                <a:latin typeface="Microsoft JhengHei"/>
              </a:rPr>
              <a:t>選取隨機整數 a ∈ ℤ_N（不失一般性，假設 gcd(a, N) = 1；否則已得 N 的因數）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33172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E50A0"/>
                </a:solidFill>
                <a:latin typeface="Microsoft JhengHei"/>
              </a:rPr>
              <a:t>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2331720"/>
            <a:ext cx="10241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1A"/>
                </a:solidFill>
                <a:latin typeface="Microsoft JhengHei"/>
              </a:rPr>
              <a:t>考慮單變量函數  f : x ↦ f(x) = aˣ mod 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283464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E50A0"/>
                </a:solidFill>
                <a:latin typeface="Microsoft JhengHei"/>
              </a:rPr>
              <a:t>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2834640"/>
            <a:ext cx="10241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1A"/>
                </a:solidFill>
                <a:latin typeface="Microsoft JhengHei"/>
              </a:rPr>
              <a:t>Period finding 子程序找到 ω 使 f(x + ω) = f(x)，即 a^ω ≡ 1 (mod N)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333756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E50A0"/>
                </a:solidFill>
                <a:latin typeface="Microsoft JhengHei"/>
              </a:rPr>
              <a:t>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3337560"/>
            <a:ext cx="10241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1A"/>
                </a:solidFill>
                <a:latin typeface="Microsoft JhengHei"/>
              </a:rPr>
              <a:t>基於 Miller 方法的演算法可由此分解 N：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3931920"/>
            <a:ext cx="10515600" cy="1097280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2960" y="3931920"/>
            <a:ext cx="73152" cy="1097280"/>
          </a:xfrm>
          <a:prstGeom prst="rect">
            <a:avLst/>
          </a:prstGeom>
          <a:solidFill>
            <a:srgbClr val="1E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3977639"/>
            <a:ext cx="10241280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A6B3A"/>
                </a:solidFill>
                <a:latin typeface="Times New Roman"/>
              </a:rPr>
              <a:t>N | (a^ω − 1)   ⟹   p · q | (a^(ω/2) + 1)(a^(ω/2) − 1)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516636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1A"/>
                </a:solidFill>
                <a:latin typeface="Microsoft JhengHei"/>
              </a:rPr>
              <a:t>再用 gcd(a^(ω/2) ± 1, N) 即可拆出 p 與 q（多數情況成功）。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5897880"/>
            <a:ext cx="11430000" cy="548640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594360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D2F6B"/>
                </a:solidFill>
                <a:latin typeface="Microsoft JhengHei"/>
              </a:rPr>
              <a:t>💡  Integer Factoring 經 period finding 歸約後，量子可在 Õ((log N)³) 時間破解。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2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icrosoft JhengHei"/>
              </a:rPr>
              <a:t>Shor 演算法 (1994) — 致命的量子打擊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6E4F7"/>
                </a:solidFill>
                <a:latin typeface="Microsoft JhengHei"/>
              </a:rPr>
              <a:t>Section 1 · Slide 7 / 41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51560"/>
            <a:ext cx="12188952" cy="36576"/>
          </a:xfrm>
          <a:prstGeom prst="rect">
            <a:avLst/>
          </a:prstGeom>
          <a:solidFill>
            <a:srgbClr val="B88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1967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Microsoft JhengHei"/>
              </a:rPr>
              <a:t>黃崇晉 L16141149 | 數論（一）| 2026 春季 | 國立成功大學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207008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55555"/>
                </a:solidFill>
                <a:latin typeface="Times New Roman"/>
              </a:rPr>
              <a:t>Peter W. Shor, “Algorithms for Quantum Computation: Discrete Logarithms and Factoring”, FOCS 1994.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1691640"/>
            <a:ext cx="10515600" cy="914400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" y="1691640"/>
            <a:ext cx="73152" cy="914400"/>
          </a:xfrm>
          <a:prstGeom prst="rect">
            <a:avLst/>
          </a:prstGeom>
          <a:solidFill>
            <a:srgbClr val="1E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1737360"/>
            <a:ext cx="10241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D2F6B"/>
                </a:solidFill>
                <a:latin typeface="Times New Roman"/>
              </a:rPr>
              <a:t>Shor:   IFP, ECDLP   ∈   BQP   (quantum polynomial time)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2743200"/>
            <a:ext cx="11338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A1A"/>
                </a:solidFill>
                <a:latin typeface="Microsoft JhengHei"/>
              </a:rPr>
              <a:t>核心觀察：兩個問題皆可化為求週期 (period finding)，量子傅立葉轉換以多項式時間求出。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3383280"/>
            <a:ext cx="10515600" cy="1554480"/>
          </a:xfrm>
          <a:prstGeom prst="rect">
            <a:avLst/>
          </a:prstGeom>
          <a:solidFill>
            <a:srgbClr val="F8D7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" y="3383280"/>
            <a:ext cx="73152" cy="1554480"/>
          </a:xfrm>
          <a:prstGeom prst="rect">
            <a:avLst/>
          </a:prstGeom>
          <a:solidFill>
            <a:srgbClr val="C0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3456432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C03030"/>
                </a:solidFill>
                <a:latin typeface="Microsoft JhengHei"/>
              </a:rPr>
              <a:t>古典 vs 量子複雜度比較   /   Classical vs Quantum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3822191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1A"/>
                </a:solidFill>
                <a:latin typeface="Times New Roman"/>
              </a:rPr>
              <a:t>整數分解 (RSA-2048):   classical GNFS  ≈  exp(Õ((log N)^(1/3)))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4069080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1A"/>
                </a:solidFill>
                <a:latin typeface="Times New Roman"/>
              </a:rPr>
              <a:t>                                      →   quantum Shor   ≈   Õ((log N)³)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4370832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1A"/>
                </a:solidFill>
                <a:latin typeface="Times New Roman"/>
              </a:rPr>
              <a:t>ECDLP:   classical Pollard rho  ≈  O(√n)    →    quantum Shor  ≈  Õ((log n)³)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4645152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C03030"/>
                </a:solidFill>
                <a:latin typeface="Microsoft JhengHei"/>
              </a:rPr>
              <a:t>結論：一旦容錯量子電腦問世，RSA、Diffie–Hellman、ECC 將同時失效。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598932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D2F6B"/>
                </a:solidFill>
                <a:latin typeface="Microsoft JhengHei"/>
              </a:rPr>
              <a:t>💡  並非所有量子演算法都這麼快，例如 SVP/CVP 目前仍只有指數時間量子演算法。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2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icrosoft JhengHei"/>
              </a:rPr>
              <a:t>威脅模型 — Harvest Now, Decrypt Later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6E4F7"/>
                </a:solidFill>
                <a:latin typeface="Microsoft JhengHei"/>
              </a:rPr>
              <a:t>Section 1 · Slide 8 / 41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51560"/>
            <a:ext cx="12188952" cy="36576"/>
          </a:xfrm>
          <a:prstGeom prst="rect">
            <a:avLst/>
          </a:prstGeom>
          <a:solidFill>
            <a:srgbClr val="B88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1967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Microsoft JhengHei"/>
              </a:rPr>
              <a:t>黃崇晉 L16141149 | 數論（一）| 2026 春季 | 國立成功大學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188720"/>
            <a:ext cx="113385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900" b="1">
                <a:solidFill>
                  <a:srgbClr val="1E50A0"/>
                </a:solidFill>
                <a:latin typeface="Microsoft JhengHei"/>
              </a:rPr>
              <a:t>▶  迫切性：威脅不需要等到量子電腦造好</a:t>
            </a:r>
          </a:p>
          <a:p>
            <a:pPr>
              <a:spcBef>
                <a:spcPts val="200"/>
              </a:spcBef>
            </a:pPr>
            <a:r>
              <a:rPr sz="1700" b="0">
                <a:solidFill>
                  <a:srgbClr val="1A1A1A"/>
                </a:solidFill>
                <a:latin typeface="Microsoft JhengHei"/>
              </a:rPr>
              <a:t>    •  今日攔截的密文，可被攻擊者保存</a:t>
            </a:r>
          </a:p>
          <a:p>
            <a:pPr>
              <a:spcBef>
                <a:spcPts val="200"/>
              </a:spcBef>
            </a:pPr>
            <a:r>
              <a:rPr sz="1700" b="0">
                <a:solidFill>
                  <a:srgbClr val="1A1A1A"/>
                </a:solidFill>
                <a:latin typeface="Microsoft JhengHei"/>
              </a:rPr>
              <a:t>    •  未來量子電腦上線後再解密 → 「先攔截、後解密」</a:t>
            </a:r>
          </a:p>
          <a:p>
            <a:pPr>
              <a:spcBef>
                <a:spcPts val="500"/>
              </a:spcBef>
            </a:pPr>
            <a:r>
              <a:rPr sz="1900" b="1">
                <a:solidFill>
                  <a:srgbClr val="1E50A0"/>
                </a:solidFill>
                <a:latin typeface="Microsoft JhengHei"/>
              </a:rPr>
              <a:t>▶  對長期機密影響重大</a:t>
            </a:r>
          </a:p>
          <a:p>
            <a:pPr>
              <a:spcBef>
                <a:spcPts val="200"/>
              </a:spcBef>
            </a:pPr>
            <a:r>
              <a:rPr sz="1700" b="0">
                <a:solidFill>
                  <a:srgbClr val="1A1A1A"/>
                </a:solidFill>
                <a:latin typeface="Microsoft JhengHei"/>
              </a:rPr>
              <a:t>    •  醫療紀錄、外交電文、商業機密、身分認證金鑰</a:t>
            </a:r>
          </a:p>
          <a:p>
            <a:pPr>
              <a:spcBef>
                <a:spcPts val="200"/>
              </a:spcBef>
            </a:pPr>
            <a:r>
              <a:rPr sz="1700" b="0">
                <a:solidFill>
                  <a:srgbClr val="1A1A1A"/>
                </a:solidFill>
                <a:latin typeface="Microsoft JhengHei"/>
              </a:rPr>
              <a:t>    •  若加密生命週期 &gt; 量子電腦問世時間 → 已經暴露</a:t>
            </a:r>
          </a:p>
          <a:p>
            <a:pPr>
              <a:spcBef>
                <a:spcPts val="500"/>
              </a:spcBef>
            </a:pPr>
            <a:r>
              <a:rPr sz="1900" b="1">
                <a:solidFill>
                  <a:srgbClr val="1E50A0"/>
                </a:solidFill>
                <a:latin typeface="Microsoft JhengHei"/>
              </a:rPr>
              <a:t>▶  估計時程</a:t>
            </a:r>
          </a:p>
          <a:p>
            <a:pPr>
              <a:spcBef>
                <a:spcPts val="200"/>
              </a:spcBef>
            </a:pPr>
            <a:r>
              <a:rPr sz="1700" b="0">
                <a:solidFill>
                  <a:srgbClr val="1A1A1A"/>
                </a:solidFill>
                <a:latin typeface="Microsoft JhengHei"/>
              </a:rPr>
              <a:t>    •  NIST 預估 2030–2035 量子電腦可能達破解規模</a:t>
            </a:r>
          </a:p>
          <a:p>
            <a:pPr>
              <a:spcBef>
                <a:spcPts val="200"/>
              </a:spcBef>
            </a:pPr>
            <a:r>
              <a:rPr sz="1700" b="0">
                <a:solidFill>
                  <a:srgbClr val="1A1A1A"/>
                </a:solidFill>
                <a:latin typeface="Microsoft JhengHei"/>
              </a:rPr>
              <a:t>    •  PQC 標準必須提前部署 — 這是現在進行式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5925312"/>
            <a:ext cx="11430000" cy="530352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5952744"/>
            <a:ext cx="11155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D2F6B"/>
                </a:solidFill>
                <a:latin typeface="Microsoft JhengHei"/>
              </a:rPr>
              <a:t>💡  “Y2Q” = Years to Quantum；產業界已開始將 PQC 並列部署於現有系統。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2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icrosoft JhengHei"/>
              </a:rPr>
              <a:t>解方:格密碼學 (Lattice-based Cryptography)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6E4F7"/>
                </a:solidFill>
                <a:latin typeface="Microsoft JhengHei"/>
              </a:rPr>
              <a:t>Section 1 · Slide 9 / 41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51560"/>
            <a:ext cx="12188952" cy="36576"/>
          </a:xfrm>
          <a:prstGeom prst="rect">
            <a:avLst/>
          </a:prstGeom>
          <a:solidFill>
            <a:srgbClr val="B88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1967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Microsoft JhengHei"/>
              </a:rPr>
              <a:t>黃崇晉 L16141149 | 數論（一）| 2026 春季 | 國立成功大學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188720"/>
            <a:ext cx="113385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900" b="1">
                <a:solidFill>
                  <a:srgbClr val="1E50A0"/>
                </a:solidFill>
                <a:latin typeface="Microsoft JhengHei"/>
              </a:rPr>
              <a:t>▶  Ajtai 1996 — 第一個 worst-case 到 average-case 的歸約</a:t>
            </a:r>
          </a:p>
          <a:p>
            <a:pPr>
              <a:spcBef>
                <a:spcPts val="200"/>
              </a:spcBef>
            </a:pPr>
            <a:r>
              <a:rPr sz="1700" b="0">
                <a:solidFill>
                  <a:srgbClr val="1A1A1A"/>
                </a:solidFill>
                <a:latin typeface="Microsoft JhengHei"/>
              </a:rPr>
              <a:t>    •  格上某些「困難問題」即使對量子電腦也認為困難</a:t>
            </a:r>
          </a:p>
          <a:p>
            <a:pPr>
              <a:spcBef>
                <a:spcPts val="200"/>
              </a:spcBef>
            </a:pPr>
            <a:r>
              <a:rPr sz="1700" b="0">
                <a:solidFill>
                  <a:srgbClr val="1A1A1A"/>
                </a:solidFill>
                <a:latin typeface="Microsoft JhengHei"/>
              </a:rPr>
              <a:t>    •  SVP_γ（最短向量問題）：2^Θ(n) 時間</a:t>
            </a:r>
          </a:p>
          <a:p>
            <a:pPr>
              <a:spcBef>
                <a:spcPts val="500"/>
              </a:spcBef>
            </a:pPr>
            <a:r>
              <a:rPr sz="1900" b="1">
                <a:solidFill>
                  <a:srgbClr val="1E50A0"/>
                </a:solidFill>
                <a:latin typeface="Microsoft JhengHei"/>
              </a:rPr>
              <a:t>▶  Regev 2005 — Learning With Errors (LWE)</a:t>
            </a:r>
          </a:p>
          <a:p>
            <a:pPr>
              <a:spcBef>
                <a:spcPts val="200"/>
              </a:spcBef>
            </a:pPr>
            <a:r>
              <a:rPr sz="1700" b="0">
                <a:solidFill>
                  <a:srgbClr val="1A1A1A"/>
                </a:solidFill>
                <a:latin typeface="Microsoft JhengHei"/>
              </a:rPr>
              <a:t>    •  公鑰加密第一個有效 PQC 候選</a:t>
            </a:r>
          </a:p>
          <a:p>
            <a:pPr>
              <a:spcBef>
                <a:spcPts val="200"/>
              </a:spcBef>
            </a:pPr>
            <a:r>
              <a:rPr sz="1700" b="0">
                <a:solidFill>
                  <a:srgbClr val="1A1A1A"/>
                </a:solidFill>
                <a:latin typeface="Microsoft JhengHei"/>
              </a:rPr>
              <a:t>    •  缺點：公鑰大小  O(n²)</a:t>
            </a:r>
          </a:p>
          <a:p>
            <a:pPr>
              <a:spcBef>
                <a:spcPts val="500"/>
              </a:spcBef>
            </a:pPr>
            <a:r>
              <a:rPr sz="1900" b="1">
                <a:solidFill>
                  <a:srgbClr val="1E50A0"/>
                </a:solidFill>
                <a:latin typeface="Microsoft JhengHei"/>
              </a:rPr>
              <a:t>▶  Lyubashevsky–Peikert–Regev 2010 — Ring-LWE</a:t>
            </a:r>
          </a:p>
          <a:p>
            <a:pPr>
              <a:spcBef>
                <a:spcPts val="200"/>
              </a:spcBef>
            </a:pPr>
            <a:r>
              <a:rPr sz="1700" b="0">
                <a:solidFill>
                  <a:srgbClr val="1A1A1A"/>
                </a:solidFill>
                <a:latin typeface="Microsoft JhengHei"/>
              </a:rPr>
              <a:t>    •  結合代數數論：ℤⁿ → 𝒪_K</a:t>
            </a:r>
          </a:p>
          <a:p>
            <a:pPr>
              <a:spcBef>
                <a:spcPts val="200"/>
              </a:spcBef>
            </a:pPr>
            <a:r>
              <a:rPr sz="1700" b="0">
                <a:solidFill>
                  <a:srgbClr val="1A1A1A"/>
                </a:solidFill>
                <a:latin typeface="Microsoft JhengHei"/>
              </a:rPr>
              <a:t>    •  公鑰縮為 O(n)、乘法 O(n log n)（NTT）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5925312"/>
            <a:ext cx="11430000" cy="530352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5952744"/>
            <a:ext cx="11155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D2F6B"/>
                </a:solidFill>
                <a:latin typeface="Microsoft JhengHei"/>
              </a:rPr>
              <a:t>💡  本報告焦點：以代數數論的觀點，理解 Ring-LWE 為何兼具安全性與效率。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2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icrosoft JhengHei"/>
              </a:rPr>
              <a:t>Section 1 小結 — 通往 Ring-LWE 的脈絡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6E4F7"/>
                </a:solidFill>
                <a:latin typeface="Microsoft JhengHei"/>
              </a:rPr>
              <a:t>Section 1 · Slide 10 / 41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51560"/>
            <a:ext cx="12188952" cy="36576"/>
          </a:xfrm>
          <a:prstGeom prst="rect">
            <a:avLst/>
          </a:prstGeom>
          <a:solidFill>
            <a:srgbClr val="B88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1967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Microsoft JhengHei"/>
              </a:rPr>
              <a:t>黃崇晉 L16141149 | 數論（一）| 2026 春季 | 國立成功大學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28016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D2F6B"/>
                </a:solidFill>
                <a:latin typeface="Microsoft JhengHei"/>
              </a:rPr>
              <a:t>問題鏈 / The Problem Chain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1828800"/>
            <a:ext cx="3657600" cy="594360"/>
          </a:xfrm>
          <a:prstGeom prst="rect">
            <a:avLst/>
          </a:prstGeom>
          <a:solidFill>
            <a:srgbClr val="F8D7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938528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D2F6B"/>
                </a:solidFill>
                <a:latin typeface="Microsoft JhengHei"/>
              </a:rPr>
              <a:t>RSA / ECC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63440" y="1828800"/>
            <a:ext cx="6675120" cy="59436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46320" y="1938528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1A"/>
                </a:solidFill>
                <a:latin typeface="Microsoft JhengHei"/>
              </a:rPr>
              <a:t>整數分解 / ECDLP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2560320"/>
            <a:ext cx="3657600" cy="594360"/>
          </a:xfrm>
          <a:prstGeom prst="rect">
            <a:avLst/>
          </a:prstGeom>
          <a:solidFill>
            <a:srgbClr val="F8D7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2670048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D2F6B"/>
                </a:solidFill>
                <a:latin typeface="Microsoft JhengHei"/>
              </a:rPr>
              <a:t>Shor (1994)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663440" y="2560320"/>
            <a:ext cx="6675120" cy="59436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46320" y="2670048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1A"/>
                </a:solidFill>
                <a:latin typeface="Microsoft JhengHei"/>
              </a:rPr>
              <a:t>量子多項式破解兩者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3291840"/>
            <a:ext cx="3657600" cy="594360"/>
          </a:xfrm>
          <a:prstGeom prst="rect">
            <a:avLst/>
          </a:prstGeom>
          <a:solidFill>
            <a:srgbClr val="D4E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3401568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D2F6B"/>
                </a:solidFill>
                <a:latin typeface="Microsoft JhengHei"/>
              </a:rPr>
              <a:t>Lattice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63440" y="3291840"/>
            <a:ext cx="6675120" cy="59436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46320" y="3401568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1A"/>
                </a:solidFill>
                <a:latin typeface="Microsoft JhengHei"/>
              </a:rPr>
              <a:t>SVP_γ 量子難解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60" y="4023360"/>
            <a:ext cx="3657600" cy="594360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" y="4133088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D2F6B"/>
                </a:solidFill>
                <a:latin typeface="Microsoft JhengHei"/>
              </a:rPr>
              <a:t>LWE (2005)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663440" y="4023360"/>
            <a:ext cx="6675120" cy="59436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46320" y="4133088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1A"/>
                </a:solidFill>
                <a:latin typeface="Microsoft JhengHei"/>
              </a:rPr>
              <a:t>公鑰大  O(n²)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" y="4754880"/>
            <a:ext cx="3657600" cy="594360"/>
          </a:xfrm>
          <a:prstGeom prst="rect">
            <a:avLst/>
          </a:prstGeom>
          <a:solidFill>
            <a:srgbClr val="D4E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5840" y="4864608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D2F6B"/>
                </a:solidFill>
                <a:latin typeface="Microsoft JhengHei"/>
              </a:rPr>
              <a:t>Ring-LWE (2010)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663440" y="4754880"/>
            <a:ext cx="6675120" cy="59436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846320" y="4864608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1A"/>
                </a:solidFill>
                <a:latin typeface="Microsoft JhengHei"/>
              </a:rPr>
              <a:t>公鑰小 O(n)、NTT 加速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" y="585216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6B3A"/>
                </a:solidFill>
                <a:latin typeface="Microsoft JhengHei"/>
              </a:rPr>
              <a:t>接下來：Section 2 — 進入格與幾何數論的世界，理解為什麼 SVP 困難。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2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12188952" cy="45720"/>
          </a:xfrm>
          <a:prstGeom prst="rect">
            <a:avLst/>
          </a:prstGeom>
          <a:solidFill>
            <a:srgbClr val="B88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554480"/>
            <a:ext cx="121889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B88600"/>
                </a:solidFill>
                <a:latin typeface="Microsoft JhengHei"/>
              </a:rPr>
              <a:t>Section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017520"/>
            <a:ext cx="121889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Microsoft JhengHei"/>
              </a:rPr>
              <a:t>格與幾何數論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114800"/>
            <a:ext cx="121889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D6E4F7"/>
                </a:solidFill>
                <a:latin typeface="Times New Roman"/>
              </a:rPr>
              <a:t>Lattices and Geometry of Numbers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5029200"/>
            <a:ext cx="121889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D6E4F7"/>
                </a:solidFill>
                <a:latin typeface="Microsoft JhengHei"/>
              </a:rPr>
              <a:t>⏱  10 分鐘 / minutes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2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icrosoft JhengHei"/>
              </a:rPr>
              <a:t>格 (Lattice) 的定義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6E4F7"/>
                </a:solidFill>
                <a:latin typeface="Microsoft JhengHei"/>
              </a:rPr>
              <a:t>Section 2 · Slide 12 / 41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51560"/>
            <a:ext cx="12188952" cy="36576"/>
          </a:xfrm>
          <a:prstGeom prst="rect">
            <a:avLst/>
          </a:prstGeom>
          <a:solidFill>
            <a:srgbClr val="B88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1967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Microsoft JhengHei"/>
              </a:rPr>
              <a:t>黃崇晉 L16141149 | 數論（一）| 2026 春季 | 國立成功大學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28016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D2F6B"/>
                </a:solidFill>
                <a:latin typeface="Microsoft JhengHei"/>
              </a:rPr>
              <a:t>離散加法子群 / Discrete additive subgroup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1828800"/>
            <a:ext cx="10515600" cy="1005840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" y="1828800"/>
            <a:ext cx="73152" cy="1005840"/>
          </a:xfrm>
          <a:prstGeom prst="rect">
            <a:avLst/>
          </a:prstGeom>
          <a:solidFill>
            <a:srgbClr val="1E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1874519"/>
            <a:ext cx="10241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0D2F6B"/>
                </a:solidFill>
                <a:latin typeface="Times New Roman"/>
              </a:rPr>
              <a:t>𝓛  =  ⊕ᵢ₌₁ⁿ ℤ bᵢ  ⊂  ℝⁿ ,   bᵢ ∈ ℝⁿ linearly independent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3017520"/>
            <a:ext cx="2743200" cy="457200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072384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D2F6B"/>
                </a:solidFill>
                <a:latin typeface="Microsoft JhengHei"/>
              </a:rPr>
              <a:t>基底矩陣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49039" y="3063239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1A"/>
                </a:solidFill>
                <a:latin typeface="Microsoft JhengHei"/>
              </a:rPr>
              <a:t>B = [b₁ | … | bₙ]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3611879"/>
            <a:ext cx="2743200" cy="457200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3666744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D2F6B"/>
                </a:solidFill>
                <a:latin typeface="Microsoft JhengHei"/>
              </a:rPr>
              <a:t>覆積 (covolume)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39" y="3657599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1A"/>
                </a:solidFill>
                <a:latin typeface="Microsoft JhengHei"/>
              </a:rPr>
              <a:t>det(𝓛) = |det B|，與基底選擇無關之不變量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4206240"/>
            <a:ext cx="2743200" cy="457200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4261103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D2F6B"/>
                </a:solidFill>
                <a:latin typeface="Microsoft JhengHei"/>
              </a:rPr>
              <a:t>相繼極小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49039" y="4251959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1A"/>
                </a:solidFill>
                <a:latin typeface="Microsoft JhengHei"/>
              </a:rPr>
              <a:t>λᵢ(𝓛) := inf{r : dim span(𝓛 ∩ B(0,r)) ≥ i}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60" y="4800600"/>
            <a:ext cx="2743200" cy="457200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4855464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D2F6B"/>
                </a:solidFill>
                <a:latin typeface="Microsoft JhengHei"/>
              </a:rPr>
              <a:t>最短向量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49039" y="4846320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1A"/>
                </a:solidFill>
                <a:latin typeface="Microsoft JhengHei"/>
              </a:rPr>
              <a:t>λ₁(𝓛) — 第一個相繼極小，即非零最短向量長度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598932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D2F6B"/>
                </a:solidFill>
                <a:latin typeface="Microsoft JhengHei"/>
              </a:rPr>
              <a:t>💡  幾何觀點：格是 ℝⁿ 中均勻分佈的點陣，覆積 = 一個基本胞的體積。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2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icrosoft JhengHei"/>
              </a:rPr>
              <a:t>格上的困難問題 (Hard Problems on Lattices)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6E4F7"/>
                </a:solidFill>
                <a:latin typeface="Microsoft JhengHei"/>
              </a:rPr>
              <a:t>Section 2 · Slide 13 / 41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51560"/>
            <a:ext cx="12188952" cy="36576"/>
          </a:xfrm>
          <a:prstGeom prst="rect">
            <a:avLst/>
          </a:prstGeom>
          <a:solidFill>
            <a:srgbClr val="B88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1967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Microsoft JhengHei"/>
              </a:rPr>
              <a:t>黃崇晉 L16141149 | 數論（一）| 2026 春季 | 國立成功大學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188720"/>
            <a:ext cx="113385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900" b="1">
                <a:solidFill>
                  <a:srgbClr val="1E50A0"/>
                </a:solidFill>
                <a:latin typeface="Microsoft JhengHei"/>
              </a:rPr>
              <a:t>▶  SVP_γ — Shortest Vector Problem</a:t>
            </a:r>
          </a:p>
          <a:p>
            <a:pPr>
              <a:spcBef>
                <a:spcPts val="200"/>
              </a:spcBef>
            </a:pPr>
            <a:r>
              <a:rPr sz="1700" b="0">
                <a:solidFill>
                  <a:srgbClr val="1A1A1A"/>
                </a:solidFill>
                <a:latin typeface="Microsoft JhengHei"/>
              </a:rPr>
              <a:t>    •  找  v ∈ 𝓛 \ {0}  使  ‖v‖ ≤ γ · λ₁(𝓛)</a:t>
            </a:r>
          </a:p>
          <a:p>
            <a:pPr>
              <a:spcBef>
                <a:spcPts val="200"/>
              </a:spcBef>
            </a:pPr>
            <a:r>
              <a:rPr sz="1700" b="0">
                <a:solidFill>
                  <a:srgbClr val="1A1A1A"/>
                </a:solidFill>
                <a:latin typeface="Microsoft JhengHei"/>
              </a:rPr>
              <a:t>    •  最自然的格問題；γ = 1 時即「找最短向量」</a:t>
            </a:r>
          </a:p>
          <a:p>
            <a:pPr>
              <a:spcBef>
                <a:spcPts val="500"/>
              </a:spcBef>
            </a:pPr>
            <a:r>
              <a:rPr sz="1900" b="1">
                <a:solidFill>
                  <a:srgbClr val="1E50A0"/>
                </a:solidFill>
                <a:latin typeface="Microsoft JhengHei"/>
              </a:rPr>
              <a:t>▶  GapSVP_γ — 決策版本</a:t>
            </a:r>
          </a:p>
          <a:p>
            <a:pPr>
              <a:spcBef>
                <a:spcPts val="200"/>
              </a:spcBef>
            </a:pPr>
            <a:r>
              <a:rPr sz="1700" b="0">
                <a:solidFill>
                  <a:srgbClr val="1A1A1A"/>
                </a:solidFill>
                <a:latin typeface="Microsoft JhengHei"/>
              </a:rPr>
              <a:t>    •  判斷  λ₁ ≤ 1  或  λ₁ &gt; γ</a:t>
            </a:r>
          </a:p>
          <a:p>
            <a:pPr>
              <a:spcBef>
                <a:spcPts val="500"/>
              </a:spcBef>
            </a:pPr>
            <a:r>
              <a:rPr sz="1900" b="1">
                <a:solidFill>
                  <a:srgbClr val="1E50A0"/>
                </a:solidFill>
                <a:latin typeface="Microsoft JhengHei"/>
              </a:rPr>
              <a:t>▶  BDD_d — Bounded Distance Decoding</a:t>
            </a:r>
          </a:p>
          <a:p>
            <a:pPr>
              <a:spcBef>
                <a:spcPts val="200"/>
              </a:spcBef>
            </a:pPr>
            <a:r>
              <a:rPr sz="1700" b="0">
                <a:solidFill>
                  <a:srgbClr val="1A1A1A"/>
                </a:solidFill>
                <a:latin typeface="Microsoft JhengHei"/>
              </a:rPr>
              <a:t>    •  給定  t ∈ ℝⁿ，dist(t, 𝓛) ≤ d · λ₁ / 2</a:t>
            </a:r>
          </a:p>
          <a:p>
            <a:pPr>
              <a:spcBef>
                <a:spcPts val="200"/>
              </a:spcBef>
            </a:pPr>
            <a:r>
              <a:rPr sz="1700" b="0">
                <a:solidFill>
                  <a:srgbClr val="1A1A1A"/>
                </a:solidFill>
                <a:latin typeface="Microsoft JhengHei"/>
              </a:rPr>
              <a:t>    •  找最近的格點（解碼）</a:t>
            </a:r>
          </a:p>
          <a:p>
            <a:pPr>
              <a:spcBef>
                <a:spcPts val="500"/>
              </a:spcBef>
            </a:pPr>
            <a:r>
              <a:rPr sz="1900" b="1">
                <a:solidFill>
                  <a:srgbClr val="1E50A0"/>
                </a:solidFill>
                <a:latin typeface="Microsoft JhengHei"/>
              </a:rPr>
              <a:t>▶  目前最佳演算法（古典與量子）</a:t>
            </a:r>
          </a:p>
          <a:p>
            <a:pPr>
              <a:spcBef>
                <a:spcPts val="200"/>
              </a:spcBef>
            </a:pPr>
            <a:r>
              <a:rPr sz="1700" b="0">
                <a:solidFill>
                  <a:srgbClr val="1A1A1A"/>
                </a:solidFill>
                <a:latin typeface="Microsoft JhengHei"/>
              </a:rPr>
              <a:t>    •  在小 γ 下需要  2^Θ(n)  時間</a:t>
            </a:r>
          </a:p>
          <a:p>
            <a:pPr>
              <a:spcBef>
                <a:spcPts val="200"/>
              </a:spcBef>
            </a:pPr>
            <a:r>
              <a:rPr sz="1700" b="0">
                <a:solidFill>
                  <a:srgbClr val="1A1A1A"/>
                </a:solidFill>
                <a:latin typeface="Microsoft JhengHei"/>
              </a:rPr>
              <a:t>    •  BKZ + Sieving 為實作主流，仍指數複雜度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2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icrosoft JhengHei"/>
              </a:rPr>
              <a:t>SVP — Shortest Vector Problem 最短向量問題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6E4F7"/>
                </a:solidFill>
                <a:latin typeface="Microsoft JhengHei"/>
              </a:rPr>
              <a:t>Section 2 · Slide 14 / 41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51560"/>
            <a:ext cx="12188952" cy="36576"/>
          </a:xfrm>
          <a:prstGeom prst="rect">
            <a:avLst/>
          </a:prstGeom>
          <a:solidFill>
            <a:srgbClr val="B88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1967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Microsoft JhengHei"/>
              </a:rPr>
              <a:t>黃崇晉 L16141149 | 數論（一）| 2026 春季 | 國立成功大學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23444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D2F6B"/>
                </a:solidFill>
                <a:latin typeface="Microsoft JhengHei"/>
              </a:rPr>
              <a:t>定義 / Definition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69164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1A"/>
                </a:solidFill>
                <a:latin typeface="Microsoft JhengHei"/>
              </a:rPr>
              <a:t>給定一個格 Λ(B) ⊂ ℝⁿ，求非零向量 x ∈ Λ(B) \ {0} 使長度（歐氏範數）達到最小：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2194560"/>
            <a:ext cx="10515600" cy="914400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2960" y="2194560"/>
            <a:ext cx="73152" cy="914400"/>
          </a:xfrm>
          <a:prstGeom prst="rect">
            <a:avLst/>
          </a:prstGeom>
          <a:solidFill>
            <a:srgbClr val="1E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2240279"/>
            <a:ext cx="10241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A6B3A"/>
                </a:solidFill>
                <a:latin typeface="Times New Roman"/>
              </a:rPr>
              <a:t>λ₁(Λ)  =  min  ‖x‖    s.t.  x ∈ Λ \ {0}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329184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D2F6B"/>
                </a:solidFill>
                <a:latin typeface="Microsoft JhengHei"/>
              </a:rPr>
              <a:t>直觀理解 / Intuition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79476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E50A0"/>
                </a:solidFill>
                <a:latin typeface="Microsoft JhengHei"/>
              </a:rPr>
              <a:t>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379476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Microsoft JhengHei"/>
              </a:rPr>
              <a:t>Λ 是 ℝⁿ 中由基底整數線性組合構成的離散點集；SVP 即「在這些點中找離原點最近的非零點」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29768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E50A0"/>
                </a:solidFill>
                <a:latin typeface="Microsoft JhengHei"/>
              </a:rPr>
              <a:t>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429768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Microsoft JhengHei"/>
              </a:rPr>
              <a:t>二維且基底「漂亮」（接近正交、長度相近）時，最短向量很容易看出來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80060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E50A0"/>
                </a:solidFill>
                <a:latin typeface="Microsoft JhengHei"/>
              </a:rPr>
              <a:t>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48006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Microsoft JhengHei"/>
              </a:rPr>
              <a:t>若基底「歪扭」（基向量夾角小、長度差異大），最短向量仍存在卻難以辨識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530352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E50A0"/>
                </a:solidFill>
                <a:latin typeface="Microsoft JhengHei"/>
              </a:rPr>
              <a:t>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530352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Microsoft JhengHei"/>
              </a:rPr>
              <a:t>→ 此時需要 lattice basis reduction（如 LLL 演算法）先把基底整理成 good basis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598932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D2F6B"/>
                </a:solidFill>
                <a:latin typeface="Microsoft JhengHei"/>
              </a:rPr>
              <a:t>💡  SVP 與其近似版本 SVP_γ 被認為對「古典 + 量子」都需 2^Θ(n) 時間。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2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icrosoft JhengHei"/>
              </a:rPr>
              <a:t>CVP — Closest Vector Problem 最近向量問題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6E4F7"/>
                </a:solidFill>
                <a:latin typeface="Microsoft JhengHei"/>
              </a:rPr>
              <a:t>Section 2 · Slide 15 / 41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51560"/>
            <a:ext cx="12188952" cy="36576"/>
          </a:xfrm>
          <a:prstGeom prst="rect">
            <a:avLst/>
          </a:prstGeom>
          <a:solidFill>
            <a:srgbClr val="B88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1967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Microsoft JhengHei"/>
              </a:rPr>
              <a:t>黃崇晉 L16141149 | 數論（一）| 2026 春季 | 國立成功大學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23444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D2F6B"/>
                </a:solidFill>
                <a:latin typeface="Microsoft JhengHei"/>
              </a:rPr>
              <a:t>定義 / Definition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69164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1A"/>
                </a:solidFill>
                <a:latin typeface="Microsoft JhengHei"/>
              </a:rPr>
              <a:t>給定格 Λ(B) ⊂ ℝⁿ 與目標點 y ∈ ℝⁿ（y 未必落在格上），求格點 x ∈ Λ(B) 使距離最小：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2194560"/>
            <a:ext cx="10515600" cy="914400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2960" y="2194560"/>
            <a:ext cx="73152" cy="914400"/>
          </a:xfrm>
          <a:prstGeom prst="rect">
            <a:avLst/>
          </a:prstGeom>
          <a:solidFill>
            <a:srgbClr val="1E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2240279"/>
            <a:ext cx="10241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A6B3A"/>
                </a:solidFill>
                <a:latin typeface="Times New Roman"/>
              </a:rPr>
              <a:t>dist(y, Λ)  =  min  ‖x − y‖    s.t.  x ∈ Λ(B)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329184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D2F6B"/>
                </a:solidFill>
                <a:latin typeface="Microsoft JhengHei"/>
              </a:rPr>
              <a:t>直觀理解 / Intuition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79476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E50A0"/>
                </a:solidFill>
                <a:latin typeface="Microsoft JhengHei"/>
              </a:rPr>
              <a:t>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3794760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Microsoft JhengHei"/>
              </a:rPr>
              <a:t>想像 ℝⁿ 鋪滿一格一格的離散晶格點，再任意丟下一點 y（多半不會落在格上）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20624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E50A0"/>
                </a:solidFill>
                <a:latin typeface="Microsoft JhengHei"/>
              </a:rPr>
              <a:t>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4206240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Microsoft JhengHei"/>
              </a:rPr>
              <a:t>CVP 即「在這些晶格點中找離 y 最近的那一個」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61772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E50A0"/>
                </a:solidFill>
                <a:latin typeface="Microsoft JhengHei"/>
              </a:rPr>
              <a:t>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4617720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Microsoft JhengHei"/>
              </a:rPr>
              <a:t>基底漂亮時：B⁻¹y 對每分量四捨五入，再乘回 B，即近似解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502920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E50A0"/>
                </a:solidFill>
                <a:latin typeface="Microsoft JhengHei"/>
              </a:rPr>
              <a:t>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5029200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Microsoft JhengHei"/>
              </a:rPr>
              <a:t>基底歪扭時：四捨五入會選錯胞元（cell），需先做 lattice basis reduction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544068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E50A0"/>
                </a:solidFill>
                <a:latin typeface="Microsoft JhengHei"/>
              </a:rPr>
              <a:t>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5440680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Microsoft JhengHei"/>
              </a:rPr>
              <a:t>SVP 與 CVP 的關係：CVP 至少和 SVP 一樣難（SVP 可規約至 CVP）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598932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D2F6B"/>
                </a:solidFill>
                <a:latin typeface="Microsoft JhengHei"/>
              </a:rPr>
              <a:t>💡  CVP 的困難性 → BDD → LWE：是後量子密碼 (Kyber、Dilithium) 的安全基礎。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2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icrosoft JhengHei"/>
              </a:rPr>
              <a:t>Minkowski 第一定理 (Minkowski's First Theorem)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6E4F7"/>
                </a:solidFill>
                <a:latin typeface="Microsoft JhengHei"/>
              </a:rPr>
              <a:t>Section 2 · Slide 16 / 41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51560"/>
            <a:ext cx="12188952" cy="36576"/>
          </a:xfrm>
          <a:prstGeom prst="rect">
            <a:avLst/>
          </a:prstGeom>
          <a:solidFill>
            <a:srgbClr val="B88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1967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Microsoft JhengHei"/>
              </a:rPr>
              <a:t>黃崇晉 L16141149 | 數論（一）| 2026 春季 | 國立成功大學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28016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D2F6B"/>
                </a:solidFill>
                <a:latin typeface="Microsoft JhengHei"/>
              </a:rPr>
              <a:t>幾何數論的奠基定理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1828800"/>
            <a:ext cx="10515600" cy="1371600"/>
          </a:xfrm>
          <a:prstGeom prst="rect">
            <a:avLst/>
          </a:prstGeom>
          <a:solidFill>
            <a:srgbClr val="D4E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" y="1828800"/>
            <a:ext cx="73152" cy="1371600"/>
          </a:xfrm>
          <a:prstGeom prst="rect">
            <a:avLst/>
          </a:prstGeom>
          <a:solidFill>
            <a:srgbClr val="1A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1901952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A6B3A"/>
                </a:solidFill>
                <a:latin typeface="Times New Roman"/>
              </a:rPr>
              <a:t>Theorem (Minkowski, 1889).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28600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1A"/>
                </a:solidFill>
                <a:latin typeface="Microsoft JhengHei"/>
              </a:rPr>
              <a:t>若  S ⊂ ℝⁿ  為中心對稱凸體，且  vol(S) &gt; 2ⁿ · det(𝓛)，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269748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1A"/>
                </a:solidFill>
                <a:latin typeface="Microsoft JhengHei"/>
              </a:rPr>
              <a:t>則  S  含有非零格點  v ∈ 𝓛 ∩ S \ {0}。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3474720"/>
            <a:ext cx="11338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D2F6B"/>
                </a:solidFill>
                <a:latin typeface="Microsoft JhengHei"/>
              </a:rPr>
              <a:t>三個關鍵詞 / Three keywords：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3977639"/>
            <a:ext cx="2377440" cy="365760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4014215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D2F6B"/>
                </a:solidFill>
                <a:latin typeface="Microsoft JhengHei"/>
              </a:rPr>
              <a:t>中心對稱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83280" y="4014215"/>
            <a:ext cx="79552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Microsoft JhengHei"/>
              </a:rPr>
              <a:t>centrally symmetric:  x ∈ S  ⇒  −x ∈ 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4434840"/>
            <a:ext cx="2377440" cy="365760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4471416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D2F6B"/>
                </a:solidFill>
                <a:latin typeface="Microsoft JhengHei"/>
              </a:rPr>
              <a:t>凸體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83280" y="4471416"/>
            <a:ext cx="79552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Microsoft JhengHei"/>
              </a:rPr>
              <a:t>convex body: 任兩點線段含於 S；S 為有界閉集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60" y="4892040"/>
            <a:ext cx="2377440" cy="365760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4928616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D2F6B"/>
                </a:solidFill>
                <a:latin typeface="Microsoft JhengHei"/>
              </a:rPr>
              <a:t>體積足夠大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83280" y="4928616"/>
            <a:ext cx="79552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Microsoft JhengHei"/>
              </a:rPr>
              <a:t>vol(S) &gt; 2ⁿ · det(𝓛)  為臨界條件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598932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D2F6B"/>
                </a:solidFill>
                <a:latin typeface="Microsoft JhengHei"/>
              </a:rPr>
              <a:t>💡  下一頁將套用此定理至中心對稱立方體，推得 SVP 上界。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2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icrosoft JhengHei"/>
              </a:rPr>
              <a:t>Minkowski 第一定理 — 視覺化 (n = 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6E4F7"/>
                </a:solidFill>
                <a:latin typeface="Microsoft JhengHei"/>
              </a:rPr>
              <a:t>Section 2 · Slide 17 / 41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51560"/>
            <a:ext cx="12188952" cy="36576"/>
          </a:xfrm>
          <a:prstGeom prst="rect">
            <a:avLst/>
          </a:prstGeom>
          <a:solidFill>
            <a:srgbClr val="B88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1967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Microsoft JhengHei"/>
              </a:rPr>
              <a:t>黃崇晉 L16141149 | 數論（一）| 2026 春季 | 國立成功大學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207008"/>
            <a:ext cx="11338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D2F6B"/>
                </a:solidFill>
                <a:latin typeface="Microsoft JhengHei"/>
              </a:rPr>
              <a:t>整數格 Λ = ℤ² 與中心對稱凸體（圓盤）:臨界體積 = 2² det(Λ) = 4</a:t>
            </a:r>
          </a:p>
        </p:txBody>
      </p:sp>
      <p:pic>
        <p:nvPicPr>
          <p:cNvPr id="10" name="Picture 9" descr="minkowski_viz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2476" y="1691640"/>
            <a:ext cx="9144000" cy="4710033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365760" y="6035040"/>
            <a:ext cx="11430000" cy="384048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6053328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D2F6B"/>
                </a:solidFill>
                <a:latin typeface="Microsoft JhengHei"/>
              </a:rPr>
              <a:t>💡  (a) vol(S) ≈ 2.27 ≤ 4:S 可能只含原點。  (b) vol(S) ≈ 6.16 &gt; 4:S 必含非零格點 v ∈ Λ \ {0}。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2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icrosoft JhengHei"/>
              </a:rPr>
              <a:t>推導 SVP 上界 — Step 1：選立方體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6E4F7"/>
                </a:solidFill>
                <a:latin typeface="Microsoft JhengHei"/>
              </a:rPr>
              <a:t>Section 2 · Slide 18 / 41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51560"/>
            <a:ext cx="12188952" cy="36576"/>
          </a:xfrm>
          <a:prstGeom prst="rect">
            <a:avLst/>
          </a:prstGeom>
          <a:solidFill>
            <a:srgbClr val="B88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1967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Microsoft JhengHei"/>
              </a:rPr>
              <a:t>黃崇晉 L16141149 | 數論（一）| 2026 春季 | 國立成功大學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23444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D2F6B"/>
                </a:solidFill>
                <a:latin typeface="Microsoft JhengHei"/>
              </a:rPr>
              <a:t>Apply Minkowski to a centered cube / 套用 Minkowski 至中心對稱立方體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1783080"/>
            <a:ext cx="10515600" cy="1005840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" y="1783080"/>
            <a:ext cx="73152" cy="1005840"/>
          </a:xfrm>
          <a:prstGeom prst="rect">
            <a:avLst/>
          </a:prstGeom>
          <a:solidFill>
            <a:srgbClr val="1E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1828800"/>
            <a:ext cx="10241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D2F6B"/>
                </a:solidFill>
                <a:latin typeface="Times New Roman"/>
              </a:rPr>
              <a:t>Cᵣ := [-r, r]ⁿ ,    vol(Cᵣ) = (2r)ⁿ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297180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1A"/>
                </a:solidFill>
                <a:latin typeface="Microsoft JhengHei"/>
              </a:rPr>
              <a:t>套用 Minkowski 定理的條件:vol(Cᵣ) &gt; 2ⁿ · det(𝓛)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3520440"/>
            <a:ext cx="10515600" cy="1005840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" y="3520440"/>
            <a:ext cx="73152" cy="1005840"/>
          </a:xfrm>
          <a:prstGeom prst="rect">
            <a:avLst/>
          </a:prstGeom>
          <a:solidFill>
            <a:srgbClr val="1E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3566160"/>
            <a:ext cx="10241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A6B3A"/>
                </a:solidFill>
                <a:latin typeface="Times New Roman"/>
              </a:rPr>
              <a:t>(2r)ⁿ &gt; 2ⁿ det(𝓛)   ⟺   r &gt; det(𝓛)^(1/n)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470916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1A"/>
                </a:solidFill>
                <a:latin typeface="Microsoft JhengHei"/>
              </a:rPr>
              <a:t>因此只要  r &gt; det(𝓛)^(1/n)，立方體 Cᵣ 即含有非零格點 v ∈ 𝓛。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5349240"/>
            <a:ext cx="10515600" cy="640080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544068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D2F6B"/>
                </a:solidFill>
                <a:latin typeface="Microsoft JhengHei"/>
              </a:rPr>
              <a:t>此 v 滿足  ‖v‖∞ ≤ r  — 因為  v ∈ Cᵣ = [-r, r]ⁿ。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2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icrosoft JhengHei"/>
              </a:rPr>
              <a:t>推導 SVP 上界 — Step 2：範數不等式 + 結論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6E4F7"/>
                </a:solidFill>
                <a:latin typeface="Microsoft JhengHei"/>
              </a:rPr>
              <a:t>Section 2 · Slide 19 / 41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51560"/>
            <a:ext cx="12188952" cy="36576"/>
          </a:xfrm>
          <a:prstGeom prst="rect">
            <a:avLst/>
          </a:prstGeom>
          <a:solidFill>
            <a:srgbClr val="B88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1967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Microsoft JhengHei"/>
              </a:rPr>
              <a:t>黃崇晉 L16141149 | 數論（一）| 2026 春季 | 國立成功大學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23444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D2F6B"/>
                </a:solidFill>
                <a:latin typeface="Microsoft JhengHei"/>
              </a:rPr>
              <a:t>標準範數不等式 / Standard norm inequality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1783080"/>
            <a:ext cx="10515600" cy="914400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" y="1783080"/>
            <a:ext cx="73152" cy="914400"/>
          </a:xfrm>
          <a:prstGeom prst="rect">
            <a:avLst/>
          </a:prstGeom>
          <a:solidFill>
            <a:srgbClr val="1E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1828800"/>
            <a:ext cx="10241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D2F6B"/>
                </a:solidFill>
                <a:latin typeface="Times New Roman"/>
              </a:rPr>
              <a:t>‖v‖₂  ≤  √n  ·  ‖v‖∞    (∀ v ∈ ℝⁿ)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283464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1A"/>
                </a:solidFill>
                <a:latin typeface="Microsoft JhengHei"/>
              </a:rPr>
              <a:t>結合 Step 1 的  ‖v‖∞ ≤ r：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3383280"/>
            <a:ext cx="10515600" cy="914400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" y="3383280"/>
            <a:ext cx="73152" cy="914400"/>
          </a:xfrm>
          <a:prstGeom prst="rect">
            <a:avLst/>
          </a:prstGeom>
          <a:solidFill>
            <a:srgbClr val="1E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3429000"/>
            <a:ext cx="10241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0D2F6B"/>
                </a:solidFill>
                <a:latin typeface="Times New Roman"/>
              </a:rPr>
              <a:t>‖v‖₂  ≤  √n · r ,    valid for all  r &gt; det(𝓛)^(1/n)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443484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1A"/>
                </a:solidFill>
                <a:latin typeface="Microsoft JhengHei"/>
              </a:rPr>
              <a:t>讓  r ↘ det(𝓛)^(1/n)，得結論：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5029200"/>
            <a:ext cx="10515600" cy="1005840"/>
          </a:xfrm>
          <a:prstGeom prst="rect">
            <a:avLst/>
          </a:prstGeom>
          <a:solidFill>
            <a:srgbClr val="D4E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2960" y="5029200"/>
            <a:ext cx="73152" cy="1005840"/>
          </a:xfrm>
          <a:prstGeom prst="rect">
            <a:avLst/>
          </a:prstGeom>
          <a:solidFill>
            <a:srgbClr val="1A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5166360"/>
            <a:ext cx="10241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A6B3A"/>
                </a:solidFill>
                <a:latin typeface="Times New Roman"/>
              </a:rPr>
              <a:t>λ₁(𝓛)  ≤  √n  ·  det(𝓛)^(1/n)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12648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D2F6B"/>
                </a:solidFill>
                <a:latin typeface="Microsoft JhengHei"/>
              </a:rPr>
              <a:t>💡  Hermite 常數 γₙ 可給出更緊的上界  λ₁² ≤ γₙ det(𝓛)^(2/n)，γₙ ≤ 2n / πe + o(n)。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2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icrosoft JhengHei"/>
              </a:rPr>
              <a:t>Section 2 小結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6E4F7"/>
                </a:solidFill>
                <a:latin typeface="Microsoft JhengHei"/>
              </a:rPr>
              <a:t>Section 2 · Slide 20 / 41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51560"/>
            <a:ext cx="12188952" cy="36576"/>
          </a:xfrm>
          <a:prstGeom prst="rect">
            <a:avLst/>
          </a:prstGeom>
          <a:solidFill>
            <a:srgbClr val="B88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1967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Microsoft JhengHei"/>
              </a:rPr>
              <a:t>黃崇晉 L16141149 | 數論（一）| 2026 春季 | 國立成功大學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188720"/>
            <a:ext cx="113385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900" b="1">
                <a:solidFill>
                  <a:srgbClr val="1E50A0"/>
                </a:solidFill>
                <a:latin typeface="Microsoft JhengHei"/>
              </a:rPr>
              <a:t>▶  格  𝓛 = ⊕ ℤ bᵢ ⊂ ℝⁿ — 離散加法子群</a:t>
            </a:r>
          </a:p>
          <a:p>
            <a:pPr>
              <a:spcBef>
                <a:spcPts val="200"/>
              </a:spcBef>
            </a:pPr>
            <a:r>
              <a:rPr sz="1700" b="0">
                <a:solidFill>
                  <a:srgbClr val="1A1A1A"/>
                </a:solidFill>
                <a:latin typeface="Microsoft JhengHei"/>
              </a:rPr>
              <a:t>    •  覆積  det(𝓛)、相繼極小  λᵢ  為核心不變量</a:t>
            </a:r>
          </a:p>
          <a:p>
            <a:pPr>
              <a:spcBef>
                <a:spcPts val="500"/>
              </a:spcBef>
            </a:pPr>
            <a:r>
              <a:rPr sz="1900" b="1">
                <a:solidFill>
                  <a:srgbClr val="1E50A0"/>
                </a:solidFill>
                <a:latin typeface="Microsoft JhengHei"/>
              </a:rPr>
              <a:t>▶  三大困難問題：SVP / GapSVP / BDD</a:t>
            </a:r>
          </a:p>
          <a:p>
            <a:pPr>
              <a:spcBef>
                <a:spcPts val="200"/>
              </a:spcBef>
            </a:pPr>
            <a:r>
              <a:rPr sz="1700" b="0">
                <a:solidFill>
                  <a:srgbClr val="1A1A1A"/>
                </a:solidFill>
                <a:latin typeface="Microsoft JhengHei"/>
              </a:rPr>
              <a:t>    •  目前已知最佳量子演算法仍需  2^Θ(n)  時間</a:t>
            </a:r>
          </a:p>
          <a:p>
            <a:pPr>
              <a:spcBef>
                <a:spcPts val="500"/>
              </a:spcBef>
            </a:pPr>
            <a:r>
              <a:rPr sz="1900" b="1">
                <a:solidFill>
                  <a:srgbClr val="1E50A0"/>
                </a:solidFill>
                <a:latin typeface="Microsoft JhengHei"/>
              </a:rPr>
              <a:t>▶  Minkowski 第一定理 → SVP 上界</a:t>
            </a:r>
          </a:p>
          <a:p>
            <a:pPr>
              <a:spcBef>
                <a:spcPts val="200"/>
              </a:spcBef>
            </a:pPr>
            <a:r>
              <a:rPr sz="1700" b="0">
                <a:solidFill>
                  <a:srgbClr val="1A1A1A"/>
                </a:solidFill>
                <a:latin typeface="Microsoft JhengHei"/>
              </a:rPr>
              <a:t>    •  λ₁(𝓛)  ≤  √n · det(𝓛)^(1/n)</a:t>
            </a:r>
          </a:p>
          <a:p>
            <a:pPr>
              <a:spcBef>
                <a:spcPts val="200"/>
              </a:spcBef>
            </a:pPr>
            <a:r>
              <a:rPr sz="1700" b="0">
                <a:solidFill>
                  <a:srgbClr val="1A1A1A"/>
                </a:solidFill>
                <a:latin typeface="Microsoft JhengHei"/>
              </a:rPr>
              <a:t>    •  幾何（covolume）與算術（最短向量）的橋樑 — Course Objective 5</a:t>
            </a:r>
          </a:p>
          <a:p>
            <a:pPr>
              <a:spcBef>
                <a:spcPts val="500"/>
              </a:spcBef>
            </a:pPr>
            <a:r>
              <a:rPr sz="1900" b="1">
                <a:solidFill>
                  <a:srgbClr val="1E50A0"/>
                </a:solidFill>
                <a:latin typeface="Microsoft JhengHei"/>
              </a:rPr>
              <a:t>▶  下一節：把這套幾何裝到「分圓域 + 數環」上</a:t>
            </a:r>
          </a:p>
          <a:p>
            <a:pPr>
              <a:spcBef>
                <a:spcPts val="200"/>
              </a:spcBef>
            </a:pPr>
            <a:r>
              <a:rPr sz="1700" b="0">
                <a:solidFill>
                  <a:srgbClr val="1A1A1A"/>
                </a:solidFill>
                <a:latin typeface="Microsoft JhengHei"/>
              </a:rPr>
              <a:t>    •  理想 → 理想格 → Ring-LWE 的攻擊難度由此而來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2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12188952" cy="45720"/>
          </a:xfrm>
          <a:prstGeom prst="rect">
            <a:avLst/>
          </a:prstGeom>
          <a:solidFill>
            <a:srgbClr val="B88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554480"/>
            <a:ext cx="121889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B88600"/>
                </a:solidFill>
                <a:latin typeface="Microsoft JhengHei"/>
              </a:rPr>
              <a:t>Section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017520"/>
            <a:ext cx="121889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Microsoft JhengHei"/>
              </a:rPr>
              <a:t>分圓域與理想格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114800"/>
            <a:ext cx="121889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D6E4F7"/>
                </a:solidFill>
                <a:latin typeface="Times New Roman"/>
              </a:rPr>
              <a:t>Cyclotomic Fields and Ideal Lattices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5029200"/>
            <a:ext cx="121889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D6E4F7"/>
                </a:solidFill>
                <a:latin typeface="Microsoft JhengHei"/>
              </a:rPr>
              <a:t>⏱  10 分鐘 / minutes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2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icrosoft JhengHei"/>
              </a:rPr>
              <a:t>一般 n-th Cyclotomic Field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6E4F7"/>
                </a:solidFill>
                <a:latin typeface="Microsoft JhengHei"/>
              </a:rPr>
              <a:t>Section 3 · Slide 22 / 41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51560"/>
            <a:ext cx="12188952" cy="36576"/>
          </a:xfrm>
          <a:prstGeom prst="rect">
            <a:avLst/>
          </a:prstGeom>
          <a:solidFill>
            <a:srgbClr val="B88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1967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Microsoft JhengHei"/>
              </a:rPr>
              <a:t>黃崇晉 L16141149 | 數論（一）| 2026 春季 | 國立成功大學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23444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D2F6B"/>
                </a:solidFill>
                <a:latin typeface="Microsoft JhengHei"/>
              </a:rPr>
              <a:t>本原 n 次單位根 / Primitive n-th root of unity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1783080"/>
            <a:ext cx="10515600" cy="914400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" y="1783080"/>
            <a:ext cx="73152" cy="914400"/>
          </a:xfrm>
          <a:prstGeom prst="rect">
            <a:avLst/>
          </a:prstGeom>
          <a:solidFill>
            <a:srgbClr val="1E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1828800"/>
            <a:ext cx="10241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0D2F6B"/>
                </a:solidFill>
                <a:latin typeface="Times New Roman"/>
              </a:rPr>
              <a:t>ζₙ  =  e^(2πi/n) ,    ζₙⁿ = 1 ,    ζₙᵏ ≠ 1   for  1 ≤ k &lt; 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288036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D2F6B"/>
                </a:solidFill>
                <a:latin typeface="Microsoft JhengHei"/>
              </a:rPr>
              <a:t>分圓多項式 / Cyclotomic polynomial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3429000"/>
            <a:ext cx="10515600" cy="914400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" y="3429000"/>
            <a:ext cx="73152" cy="914400"/>
          </a:xfrm>
          <a:prstGeom prst="rect">
            <a:avLst/>
          </a:prstGeom>
          <a:solidFill>
            <a:srgbClr val="1E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3474720"/>
            <a:ext cx="10241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D2F6B"/>
                </a:solidFill>
                <a:latin typeface="Times New Roman"/>
              </a:rPr>
              <a:t>Φₙ(x)  =  ∏  (x − ζₙᵏ)   ∈   ℤ[x]
                    gcd(k,n)=1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57200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E50A0"/>
                </a:solidFill>
                <a:latin typeface="Microsoft JhengHei"/>
              </a:rPr>
              <a:t>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45720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1A"/>
                </a:solidFill>
                <a:latin typeface="Microsoft JhengHei"/>
              </a:rPr>
              <a:t>Monic（首一）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98348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E50A0"/>
                </a:solidFill>
                <a:latin typeface="Microsoft JhengHei"/>
              </a:rPr>
              <a:t>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49834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1A"/>
                </a:solidFill>
                <a:latin typeface="Microsoft JhengHei"/>
              </a:rPr>
              <a:t>Irreducible over ℚ（在 ℚ 上不可約）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539496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E50A0"/>
                </a:solidFill>
                <a:latin typeface="Microsoft JhengHei"/>
              </a:rPr>
              <a:t>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53949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1A"/>
                </a:solidFill>
                <a:latin typeface="Microsoft JhengHei"/>
              </a:rPr>
              <a:t>deg Φₙ = φ(n)（Euler totient）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598932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D2F6B"/>
                </a:solidFill>
                <a:latin typeface="Microsoft JhengHei"/>
              </a:rPr>
              <a:t>💡  分圓多項式 {Φₙ} 滿足   xⁿ − 1 = ∏_{d ∣ n} Φ_d(x)。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2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icrosoft JhengHei"/>
              </a:rPr>
              <a:t>分圓多項式範例 / Examples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6E4F7"/>
                </a:solidFill>
                <a:latin typeface="Microsoft JhengHei"/>
              </a:rPr>
              <a:t>Section 3 · Slide 23 / 41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51560"/>
            <a:ext cx="12188952" cy="36576"/>
          </a:xfrm>
          <a:prstGeom prst="rect">
            <a:avLst/>
          </a:prstGeom>
          <a:solidFill>
            <a:srgbClr val="B88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1967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Microsoft JhengHei"/>
              </a:rPr>
              <a:t>黃崇晉 L16141149 | 數論（一）| 2026 春季 | 國立成功大學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2801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D2F6B"/>
                </a:solidFill>
                <a:latin typeface="Times New Roman"/>
              </a:rPr>
              <a:t>Φₙ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12801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D2F6B"/>
                </a:solidFill>
                <a:latin typeface="Microsoft JhengHei"/>
              </a:rPr>
              <a:t>形式 / Form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12801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D2F6B"/>
                </a:solidFill>
                <a:latin typeface="Microsoft JhengHei"/>
              </a:rPr>
              <a:t>次數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1691640"/>
            <a:ext cx="10515600" cy="36576"/>
          </a:xfrm>
          <a:prstGeom prst="rect">
            <a:avLst/>
          </a:prstGeom>
          <a:solidFill>
            <a:srgbClr val="0D2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2960" y="1828800"/>
            <a:ext cx="10515600" cy="45720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1874519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E50A0"/>
                </a:solidFill>
                <a:latin typeface="Times New Roman"/>
              </a:rPr>
              <a:t>Φ₁(x)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1874519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1A"/>
                </a:solidFill>
                <a:latin typeface="Times New Roman"/>
              </a:rPr>
              <a:t>x − 1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0" y="1874519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55555"/>
                </a:solidFill>
                <a:latin typeface="Times New Roman"/>
              </a:rPr>
              <a:t>φ(1) = 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2377439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E50A0"/>
                </a:solidFill>
                <a:latin typeface="Times New Roman"/>
              </a:rPr>
              <a:t>Φ₂(x)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0" y="2377439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1A"/>
                </a:solidFill>
                <a:latin typeface="Times New Roman"/>
              </a:rPr>
              <a:t>x + 1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2377439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55555"/>
                </a:solidFill>
                <a:latin typeface="Times New Roman"/>
              </a:rPr>
              <a:t>φ(2) = 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" y="2834640"/>
            <a:ext cx="10515600" cy="45720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28803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E50A0"/>
                </a:solidFill>
                <a:latin typeface="Times New Roman"/>
              </a:rPr>
              <a:t>Φ₃(x)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0" y="288036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1A"/>
                </a:solidFill>
                <a:latin typeface="Times New Roman"/>
              </a:rPr>
              <a:t>x² + x + 1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28803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55555"/>
                </a:solidFill>
                <a:latin typeface="Times New Roman"/>
              </a:rPr>
              <a:t>φ(3) = 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338328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E50A0"/>
                </a:solidFill>
                <a:latin typeface="Times New Roman"/>
              </a:rPr>
              <a:t>Φ₄(x)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0" y="338328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1A"/>
                </a:solidFill>
                <a:latin typeface="Times New Roman"/>
              </a:rPr>
              <a:t>x² + 1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0" y="338328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55555"/>
                </a:solidFill>
                <a:latin typeface="Times New Roman"/>
              </a:rPr>
              <a:t>φ(4) = 2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22960" y="3840480"/>
            <a:ext cx="10515600" cy="45720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38862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E50A0"/>
                </a:solidFill>
                <a:latin typeface="Times New Roman"/>
              </a:rPr>
              <a:t>Φ₅(x)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43200" y="388620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1A"/>
                </a:solidFill>
                <a:latin typeface="Times New Roman"/>
              </a:rPr>
              <a:t>x⁴ + x³ + x² + x + 1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38862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55555"/>
                </a:solidFill>
                <a:latin typeface="Times New Roman"/>
              </a:rPr>
              <a:t>φ(5) = 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43891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E50A0"/>
                </a:solidFill>
                <a:latin typeface="Times New Roman"/>
              </a:rPr>
              <a:t>Φ₆(x)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743200" y="438912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1A"/>
                </a:solidFill>
                <a:latin typeface="Times New Roman"/>
              </a:rPr>
              <a:t>x² − x + 1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43891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55555"/>
                </a:solidFill>
                <a:latin typeface="Times New Roman"/>
              </a:rPr>
              <a:t>φ(6) = 2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22960" y="4846320"/>
            <a:ext cx="10515600" cy="45720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4400" y="48920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E50A0"/>
                </a:solidFill>
                <a:latin typeface="Times New Roman"/>
              </a:rPr>
              <a:t>Φ₈(x)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743200" y="489204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1A"/>
                </a:solidFill>
                <a:latin typeface="Times New Roman"/>
              </a:rPr>
              <a:t>x⁴ + 1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0" y="48920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55555"/>
                </a:solidFill>
                <a:latin typeface="Times New Roman"/>
              </a:rPr>
              <a:t>φ(8) = 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" y="53949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E50A0"/>
                </a:solidFill>
                <a:latin typeface="Times New Roman"/>
              </a:rPr>
              <a:t>Φ₁₂(x)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743200" y="539496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1A"/>
                </a:solidFill>
                <a:latin typeface="Times New Roman"/>
              </a:rPr>
              <a:t>x⁴ − x² + 1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0" y="53949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55555"/>
                </a:solidFill>
                <a:latin typeface="Times New Roman"/>
              </a:rPr>
              <a:t>φ(12) = 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2920" y="603504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D2F6B"/>
                </a:solidFill>
                <a:latin typeface="Microsoft JhengHei"/>
              </a:rPr>
              <a:t>💡  Power-of-two 子類 (n = 2ᵏ):Φ_{2ᵏ}(x) = x^(2^(k−1)) + 1 — 形式最簡，成為 Ring-LWE 實作首選。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2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icrosoft JhengHei"/>
              </a:rPr>
              <a:t>分圓域 K = ℚ(ζₙ) 與整數環 𝒪_K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6E4F7"/>
                </a:solidFill>
                <a:latin typeface="Microsoft JhengHei"/>
              </a:rPr>
              <a:t>Section 3 · Slide 24 / 41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51560"/>
            <a:ext cx="12188952" cy="36576"/>
          </a:xfrm>
          <a:prstGeom prst="rect">
            <a:avLst/>
          </a:prstGeom>
          <a:solidFill>
            <a:srgbClr val="B88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1967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Microsoft JhengHei"/>
              </a:rPr>
              <a:t>黃崇晉 L16141149 | 數論（一）| 2026 春季 | 國立成功大學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1280160"/>
            <a:ext cx="10515600" cy="914400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" y="1280160"/>
            <a:ext cx="73152" cy="914400"/>
          </a:xfrm>
          <a:prstGeom prst="rect">
            <a:avLst/>
          </a:prstGeom>
          <a:solidFill>
            <a:srgbClr val="1E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325880"/>
            <a:ext cx="10241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D2F6B"/>
                </a:solidFill>
                <a:latin typeface="Times New Roman"/>
              </a:rPr>
              <a:t>K  =  ℚ(ζₙ) ,    [K : ℚ]  =  φ(n)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2331720"/>
            <a:ext cx="10515600" cy="914400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2960" y="2331720"/>
            <a:ext cx="73152" cy="914400"/>
          </a:xfrm>
          <a:prstGeom prst="rect">
            <a:avLst/>
          </a:prstGeom>
          <a:solidFill>
            <a:srgbClr val="1E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2377439"/>
            <a:ext cx="10241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0D2F6B"/>
                </a:solidFill>
                <a:latin typeface="Times New Roman"/>
              </a:rPr>
              <a:t>𝒪_K  =  ℤ[ζₙ]    (ring of integers,  Dedekind domain)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352044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D2F6B"/>
                </a:solidFill>
                <a:latin typeface="Microsoft JhengHei"/>
              </a:rPr>
              <a:t>Dedekind 性質 (Course Obj. 1, 2)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06908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E50A0"/>
                </a:solidFill>
                <a:latin typeface="Microsoft JhengHei"/>
              </a:rPr>
              <a:t>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40690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1A"/>
                </a:solidFill>
                <a:latin typeface="Microsoft JhengHei"/>
              </a:rPr>
              <a:t>𝒪_K 為 Noetherian、整封閉、Krull 維度 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52628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E50A0"/>
                </a:solidFill>
                <a:latin typeface="Microsoft JhengHei"/>
              </a:rPr>
              <a:t>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45262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1A"/>
                </a:solidFill>
                <a:latin typeface="Microsoft JhengHei"/>
              </a:rPr>
              <a:t>每個非零理想可唯一分解為質理想之積:𝔞 = 𝔭₁^e₁ · 𝔭₂^e₂ · … · 𝔭ᵣ^eᵣ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498348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E50A0"/>
                </a:solidFill>
                <a:latin typeface="Microsoft JhengHei"/>
              </a:rPr>
              <a:t>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49834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1A"/>
                </a:solidFill>
                <a:latin typeface="Microsoft JhengHei"/>
              </a:rPr>
              <a:t>理想算術取代了元素算術 — 唯一分解性的「正確類比」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598932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D2F6B"/>
                </a:solidFill>
                <a:latin typeface="Microsoft JhengHei"/>
              </a:rPr>
              <a:t>💡  ℤ 在 ℚ(ζₙ) 中的「正確版本」就是 ℤ[ζₙ] — 因為 ζₙ 是首一整係數多項式 Φₙ 的根。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2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icrosoft JhengHei"/>
              </a:rPr>
              <a:t>特殊化:power-of-two cyclotomic (m = 2ᵏ)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6E4F7"/>
                </a:solidFill>
                <a:latin typeface="Microsoft JhengHei"/>
              </a:rPr>
              <a:t>Section 3 · Slide 25 / 41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51560"/>
            <a:ext cx="12188952" cy="36576"/>
          </a:xfrm>
          <a:prstGeom prst="rect">
            <a:avLst/>
          </a:prstGeom>
          <a:solidFill>
            <a:srgbClr val="B88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1967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Microsoft JhengHei"/>
              </a:rPr>
              <a:t>黃崇晉 L16141149 | 數論（一）| 2026 春季 | 國立成功大學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23444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D2F6B"/>
                </a:solidFill>
                <a:latin typeface="Microsoft JhengHei"/>
              </a:rPr>
              <a:t>Ring-LWE 實作首選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1783080"/>
            <a:ext cx="10515600" cy="914400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" y="1783080"/>
            <a:ext cx="73152" cy="914400"/>
          </a:xfrm>
          <a:prstGeom prst="rect">
            <a:avLst/>
          </a:prstGeom>
          <a:solidFill>
            <a:srgbClr val="1E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1828800"/>
            <a:ext cx="10241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D2F6B"/>
                </a:solidFill>
                <a:latin typeface="Times New Roman"/>
              </a:rPr>
              <a:t>m  =  2ᵏ  (k ≥ 2) ,    Φₘ(x)  =  x^(2^(k−1)) + 1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288036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D2F6B"/>
                </a:solidFill>
                <a:latin typeface="Microsoft JhengHei"/>
              </a:rPr>
              <a:t>符號慣例 (LPR convention)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3429000"/>
            <a:ext cx="10515600" cy="1280160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" y="3429000"/>
            <a:ext cx="73152" cy="1280160"/>
          </a:xfrm>
          <a:prstGeom prst="rect">
            <a:avLst/>
          </a:prstGeom>
          <a:solidFill>
            <a:srgbClr val="1E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3474720"/>
            <a:ext cx="10241280" cy="118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D2F6B"/>
                </a:solidFill>
                <a:latin typeface="Times New Roman"/>
              </a:rPr>
              <a:t>m  =  分圓指標 (cyclotomic index)
n  :=  φ(m)  =  2^(k−1)  =  域度 [K : ℚ]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8920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E50A0"/>
                </a:solidFill>
                <a:latin typeface="Times New Roman"/>
              </a:rPr>
              <a:t>k =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37360" y="489204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E50A0"/>
                </a:solidFill>
                <a:latin typeface="Times New Roman"/>
              </a:rPr>
              <a:t>m = 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08960" y="489204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E50A0"/>
                </a:solidFill>
                <a:latin typeface="Times New Roman"/>
              </a:rPr>
              <a:t>n =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4892040"/>
            <a:ext cx="6766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Microsoft JhengHei"/>
              </a:rPr>
              <a:t>Φ₄ = x² + 1   (K = ℚ(i))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5184648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E50A0"/>
                </a:solidFill>
                <a:latin typeface="Times New Roman"/>
              </a:rPr>
              <a:t>k =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37360" y="5184648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E50A0"/>
                </a:solidFill>
                <a:latin typeface="Times New Roman"/>
              </a:rPr>
              <a:t>m = 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08960" y="5184648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E50A0"/>
                </a:solidFill>
                <a:latin typeface="Times New Roman"/>
              </a:rPr>
              <a:t>n = 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80560" y="5184648"/>
            <a:ext cx="6766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Microsoft JhengHei"/>
              </a:rPr>
              <a:t>Φ₈ = x⁴ + 1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5477255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E50A0"/>
                </a:solidFill>
                <a:latin typeface="Times New Roman"/>
              </a:rPr>
              <a:t>k = 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37360" y="5477255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E50A0"/>
                </a:solidFill>
                <a:latin typeface="Times New Roman"/>
              </a:rPr>
              <a:t>m = 16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108960" y="5477255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E50A0"/>
                </a:solidFill>
                <a:latin typeface="Times New Roman"/>
              </a:rPr>
              <a:t>n = 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0560" y="5477255"/>
            <a:ext cx="6766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Microsoft JhengHei"/>
              </a:rPr>
              <a:t>Φ₁₆ = x⁸ + 1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5769864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E50A0"/>
                </a:solidFill>
                <a:latin typeface="Times New Roman"/>
              </a:rPr>
              <a:t>k = 10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737360" y="5769864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E50A0"/>
                </a:solidFill>
                <a:latin typeface="Times New Roman"/>
              </a:rPr>
              <a:t>m = 1024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108960" y="5769864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E50A0"/>
                </a:solidFill>
                <a:latin typeface="Times New Roman"/>
              </a:rPr>
              <a:t>n = 512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80560" y="5769864"/>
            <a:ext cx="6766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Microsoft JhengHei"/>
              </a:rPr>
              <a:t>Φ₁₀₂₄ = x⁵¹² + 1（實用尺寸）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2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icrosoft JhengHei"/>
              </a:rPr>
              <a:t>質理想分裂 (Splitting of Primes)  ·  Course Obj.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6E4F7"/>
                </a:solidFill>
                <a:latin typeface="Microsoft JhengHei"/>
              </a:rPr>
              <a:t>Section 3 · Slide 26 / 41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51560"/>
            <a:ext cx="12188952" cy="36576"/>
          </a:xfrm>
          <a:prstGeom prst="rect">
            <a:avLst/>
          </a:prstGeom>
          <a:solidFill>
            <a:srgbClr val="B88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1967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Microsoft JhengHei"/>
              </a:rPr>
              <a:t>黃崇晉 L16141149 | 數論（一）| 2026 春季 | 國立成功大學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188720"/>
            <a:ext cx="113385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900" b="1">
                <a:solidFill>
                  <a:srgbClr val="1E50A0"/>
                </a:solidFill>
                <a:latin typeface="Microsoft JhengHei"/>
              </a:rPr>
              <a:t>▶  對 p ∤ m：分裂模式由 p mod m 決定</a:t>
            </a:r>
          </a:p>
          <a:p>
            <a:pPr>
              <a:spcBef>
                <a:spcPts val="200"/>
              </a:spcBef>
            </a:pPr>
            <a:r>
              <a:rPr sz="1700" b="0">
                <a:solidFill>
                  <a:srgbClr val="1A1A1A"/>
                </a:solidFill>
                <a:latin typeface="Microsoft JhengHei"/>
              </a:rPr>
              <a:t>    •  f := order of p modulo m in (ℤ/m)*</a:t>
            </a:r>
          </a:p>
          <a:p>
            <a:pPr>
              <a:spcBef>
                <a:spcPts val="200"/>
              </a:spcBef>
            </a:pPr>
            <a:r>
              <a:rPr sz="1700" b="0">
                <a:solidFill>
                  <a:srgbClr val="1A1A1A"/>
                </a:solidFill>
                <a:latin typeface="Microsoft JhengHei"/>
              </a:rPr>
              <a:t>    •  p · 𝒪_K = 𝔭₁ · 𝔭₂ · … · 𝔭_g  共  g = n / f  個質理想</a:t>
            </a:r>
          </a:p>
          <a:p>
            <a:pPr>
              <a:spcBef>
                <a:spcPts val="200"/>
              </a:spcBef>
            </a:pPr>
            <a:r>
              <a:rPr sz="1700" b="0">
                <a:solidFill>
                  <a:srgbClr val="1A1A1A"/>
                </a:solidFill>
                <a:latin typeface="Microsoft JhengHei"/>
              </a:rPr>
              <a:t>    •  每個 𝔭ᵢ 之 inertia degree 為 f，ramification index 為 1</a:t>
            </a:r>
          </a:p>
          <a:p>
            <a:pPr>
              <a:spcBef>
                <a:spcPts val="500"/>
              </a:spcBef>
            </a:pPr>
            <a:r>
              <a:rPr sz="1900" b="1">
                <a:solidFill>
                  <a:srgbClr val="1E50A0"/>
                </a:solidFill>
                <a:latin typeface="Microsoft JhengHei"/>
              </a:rPr>
              <a:t>▶  對 p = 2（m = 2ᵏ 時唯一分歧質數）</a:t>
            </a:r>
          </a:p>
          <a:p>
            <a:pPr>
              <a:spcBef>
                <a:spcPts val="200"/>
              </a:spcBef>
            </a:pPr>
            <a:r>
              <a:rPr sz="1700" b="0">
                <a:solidFill>
                  <a:srgbClr val="1A1A1A"/>
                </a:solidFill>
                <a:latin typeface="Microsoft JhengHei"/>
              </a:rPr>
              <a:t>    •  2 · 𝒪_K = (1 − ζₘ)ⁿ — 完全分歧 (totally ramified)</a:t>
            </a:r>
          </a:p>
          <a:p>
            <a:pPr>
              <a:spcBef>
                <a:spcPts val="500"/>
              </a:spcBef>
            </a:pPr>
            <a:r>
              <a:rPr sz="1900" b="1">
                <a:solidFill>
                  <a:srgbClr val="1E50A0"/>
                </a:solidFill>
                <a:latin typeface="Microsoft JhengHei"/>
              </a:rPr>
              <a:t>▶  Ring-LWE 的關鍵選擇:q prime, q ≡ 1 (mod m)</a:t>
            </a:r>
          </a:p>
          <a:p>
            <a:pPr>
              <a:spcBef>
                <a:spcPts val="200"/>
              </a:spcBef>
            </a:pPr>
            <a:r>
              <a:rPr sz="1700" b="0">
                <a:solidFill>
                  <a:srgbClr val="1A1A1A"/>
                </a:solidFill>
                <a:latin typeface="Microsoft JhengHei"/>
              </a:rPr>
              <a:t>    •  ⇒ f = 1，q 在 𝒪_K 中完全分裂</a:t>
            </a:r>
          </a:p>
          <a:p>
            <a:pPr>
              <a:spcBef>
                <a:spcPts val="200"/>
              </a:spcBef>
            </a:pPr>
            <a:r>
              <a:rPr sz="1700" b="0">
                <a:solidFill>
                  <a:srgbClr val="1A1A1A"/>
                </a:solidFill>
                <a:latin typeface="Microsoft JhengHei"/>
              </a:rPr>
              <a:t>    •  ⇒ R_q := 𝒪_K / q · 𝒪_K  ≅  ∏ᵢ₌₁ⁿ ℤ_q（CRT）</a:t>
            </a:r>
          </a:p>
          <a:p>
            <a:pPr>
              <a:spcBef>
                <a:spcPts val="200"/>
              </a:spcBef>
            </a:pPr>
            <a:r>
              <a:rPr sz="1700" b="0">
                <a:solidFill>
                  <a:srgbClr val="1A1A1A"/>
                </a:solidFill>
                <a:latin typeface="Microsoft JhengHei"/>
              </a:rPr>
              <a:t>    •  此即 NTT 的代數來源 — 詳見 Section 4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5925312"/>
            <a:ext cx="11430000" cy="530352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5952744"/>
            <a:ext cx="11155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D2F6B"/>
                </a:solidFill>
                <a:latin typeface="Microsoft JhengHei"/>
              </a:rPr>
              <a:t>💡  這是「質理想分裂模式」直接決定 Ring-LWE 演算法效率的具體例證。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2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icrosoft JhengHei"/>
              </a:rPr>
              <a:t>Trace, Norm, Discriminant  ·  Course Obj.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6E4F7"/>
                </a:solidFill>
                <a:latin typeface="Microsoft JhengHei"/>
              </a:rPr>
              <a:t>Section 3 · Slide 27 / 41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51560"/>
            <a:ext cx="12188952" cy="36576"/>
          </a:xfrm>
          <a:prstGeom prst="rect">
            <a:avLst/>
          </a:prstGeom>
          <a:solidFill>
            <a:srgbClr val="B88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1967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Microsoft JhengHei"/>
              </a:rPr>
              <a:t>黃崇晉 L16141149 | 數論（一）| 2026 春季 | 國立成功大學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1280160"/>
            <a:ext cx="3017520" cy="640080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1444751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D2F6B"/>
                </a:solidFill>
                <a:latin typeface="Microsoft JhengHei"/>
              </a:rPr>
              <a:t>Trace 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23360" y="1417319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1A"/>
                </a:solidFill>
                <a:latin typeface="Microsoft JhengHei"/>
              </a:rPr>
              <a:t>Tr_{K/ℚ}(α)  =  Σᵢ σᵢ(α)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2057400"/>
            <a:ext cx="3017520" cy="640080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22199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D2F6B"/>
                </a:solidFill>
                <a:latin typeface="Microsoft JhengHei"/>
              </a:rPr>
              <a:t>Norm 範數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23360" y="21945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1A"/>
                </a:solidFill>
                <a:latin typeface="Microsoft JhengHei"/>
              </a:rPr>
              <a:t>N_{K/ℚ}(α)   =  Πᵢ σᵢ(α)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2834639"/>
            <a:ext cx="3017520" cy="640080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299923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D2F6B"/>
                </a:solidFill>
                <a:latin typeface="Microsoft JhengHei"/>
              </a:rPr>
              <a:t>Different 差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23360" y="2971799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1A"/>
                </a:solidFill>
                <a:latin typeface="Microsoft JhengHei"/>
              </a:rPr>
              <a:t>𝔡_{K/ℚ}⁻¹  =  { α ∈ K : Tr(α · 𝒪_K) ⊆ ℤ }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3611879"/>
            <a:ext cx="3017520" cy="640080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377647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D2F6B"/>
                </a:solidFill>
                <a:latin typeface="Microsoft JhengHei"/>
              </a:rPr>
              <a:t>Discriminant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23360" y="3749039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1A"/>
                </a:solidFill>
                <a:latin typeface="Microsoft JhengHei"/>
              </a:rPr>
              <a:t>Δ_K  =  N_{K/ℚ}(𝔡_{K/ℚ})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" y="4526280"/>
            <a:ext cx="10515600" cy="1280160"/>
          </a:xfrm>
          <a:prstGeom prst="rect">
            <a:avLst/>
          </a:prstGeom>
          <a:solidFill>
            <a:srgbClr val="D4E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22960" y="4526280"/>
            <a:ext cx="73152" cy="1280160"/>
          </a:xfrm>
          <a:prstGeom prst="rect">
            <a:avLst/>
          </a:prstGeom>
          <a:solidFill>
            <a:srgbClr val="1A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" y="4617720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6B3A"/>
                </a:solidFill>
                <a:latin typeface="Microsoft JhengHei"/>
              </a:rPr>
              <a:t>Power-of-two cyclotomic (m = 2ᵏ) discriminant：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5029200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0D2F6B"/>
                </a:solidFill>
                <a:latin typeface="Times New Roman"/>
              </a:rPr>
              <a:t>|Δ_K|  =  2^(n(k−1)) ,    √|Δ_K|  =  2^(n(k−1)/2)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5440680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Microsoft JhengHei"/>
              </a:rPr>
              <a:t>m = 8, n = 4 (k = 3)：|Δ_K| = 2^(4·2) = 256，√|Δ_K| = 16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598932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D2F6B"/>
                </a:solidFill>
                <a:latin typeface="Microsoft JhengHei"/>
              </a:rPr>
              <a:t>💡  判別式測量「整數環的擾動」；分歧質數恰是 Δ_K 的質因數。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2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icrosoft JhengHei"/>
              </a:rPr>
              <a:t>Canonical (Minkowski) Embedding — 把代數翻譯為幾何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6E4F7"/>
                </a:solidFill>
                <a:latin typeface="Microsoft JhengHei"/>
              </a:rPr>
              <a:t>Section 3 · Slide 28 / 41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51560"/>
            <a:ext cx="12188952" cy="36576"/>
          </a:xfrm>
          <a:prstGeom prst="rect">
            <a:avLst/>
          </a:prstGeom>
          <a:solidFill>
            <a:srgbClr val="B88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1967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Microsoft JhengHei"/>
              </a:rPr>
              <a:t>黃崇晉 L16141149 | 數論（一）| 2026 春季 | 國立成功大學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23444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D2F6B"/>
                </a:solidFill>
                <a:latin typeface="Microsoft JhengHei"/>
              </a:rPr>
              <a:t>對分圓 (r₁ = 0, r₂ = n/2):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1783080"/>
            <a:ext cx="10515600" cy="1280160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" y="1783080"/>
            <a:ext cx="73152" cy="1280160"/>
          </a:xfrm>
          <a:prstGeom prst="rect">
            <a:avLst/>
          </a:prstGeom>
          <a:solidFill>
            <a:srgbClr val="1E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1828800"/>
            <a:ext cx="10241280" cy="118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D2F6B"/>
                </a:solidFill>
                <a:latin typeface="Times New Roman"/>
              </a:rPr>
              <a:t>σ : K  ↪  K_ℝ := K ⊗_ℚ ℝ  ≅  ℂ^(n/2)  ≅  ℝⁿ
α  ↦  (√2 Re σ₁(α),  √2 Im σ₁(α),  …)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32461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D2F6B"/>
                </a:solidFill>
                <a:latin typeface="Microsoft JhengHei"/>
              </a:rPr>
              <a:t>理想格 (Ideal Lattice)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37033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1A"/>
                </a:solidFill>
                <a:latin typeface="Microsoft JhengHei"/>
              </a:rPr>
              <a:t>每個非零理想 𝔞 ⊆ 𝒪_K 在 σ 下成為滿秩格：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4251960"/>
            <a:ext cx="10515600" cy="1005840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" y="4251960"/>
            <a:ext cx="73152" cy="1005840"/>
          </a:xfrm>
          <a:prstGeom prst="rect">
            <a:avLst/>
          </a:prstGeom>
          <a:solidFill>
            <a:srgbClr val="1E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4297680"/>
            <a:ext cx="10241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1A6B3A"/>
                </a:solidFill>
                <a:latin typeface="Times New Roman"/>
              </a:rPr>
              <a:t>det( σ(𝔞) )  =  N(𝔞)  ·  √|Δ_K|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5532120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D2F6B"/>
                </a:solidFill>
                <a:latin typeface="Microsoft JhengHei"/>
              </a:rPr>
              <a:t>💡  關鍵翻譯：理想 (代數結構)  →  滿秩格 (幾何結構)；範數 ↔ 覆積。Ring-LWE 攻擊難度即建基於此：理想格上的 SVP 仍困難。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2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icrosoft JhengHei"/>
              </a:rPr>
              <a:t>Worked Example:m = 8, n =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6E4F7"/>
                </a:solidFill>
                <a:latin typeface="Microsoft JhengHei"/>
              </a:rPr>
              <a:t>Section 3 · Slide 29 / 41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51560"/>
            <a:ext cx="12188952" cy="36576"/>
          </a:xfrm>
          <a:prstGeom prst="rect">
            <a:avLst/>
          </a:prstGeom>
          <a:solidFill>
            <a:srgbClr val="B88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1967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Microsoft JhengHei"/>
              </a:rPr>
              <a:t>黃崇晉 L16141149 | 數論（一）| 2026 春季 | 國立成功大學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23444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D2F6B"/>
                </a:solidFill>
                <a:latin typeface="Microsoft JhengHei"/>
              </a:rPr>
              <a:t>K = ℚ(ζ₈) — 最小的非平凡 power-of-two cyclotomic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1783080"/>
            <a:ext cx="2560320" cy="457200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1847088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D2F6B"/>
                </a:solidFill>
                <a:latin typeface="Microsoft JhengHei"/>
              </a:rPr>
              <a:t>分圓多項式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1828800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1A"/>
                </a:solidFill>
                <a:latin typeface="Microsoft JhengHei"/>
              </a:rPr>
              <a:t>Φ₈(x) = x⁴ + 1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2286000"/>
            <a:ext cx="2560320" cy="457200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2350008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D2F6B"/>
                </a:solidFill>
                <a:latin typeface="Microsoft JhengHei"/>
              </a:rPr>
              <a:t>域度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2331720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1A"/>
                </a:solidFill>
                <a:latin typeface="Microsoft JhengHei"/>
              </a:rPr>
              <a:t>[K : ℚ] = φ(8) = 4 = 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2788920"/>
            <a:ext cx="2560320" cy="457200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2852927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D2F6B"/>
                </a:solidFill>
                <a:latin typeface="Microsoft JhengHei"/>
              </a:rPr>
              <a:t>整數環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0" y="2834639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1A"/>
                </a:solidFill>
                <a:latin typeface="Microsoft JhengHei"/>
              </a:rPr>
              <a:t>𝒪_K = ℤ[ζ₈]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3291840"/>
            <a:ext cx="2560320" cy="457200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3355848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D2F6B"/>
                </a:solidFill>
                <a:latin typeface="Microsoft JhengHei"/>
              </a:rPr>
              <a:t>判別式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0" y="3337560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1A"/>
                </a:solidFill>
                <a:latin typeface="Microsoft JhengHei"/>
              </a:rPr>
              <a:t>|Δ_K| = 2^(4·2) = 256，√|Δ_K| = 16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60" y="4023360"/>
            <a:ext cx="10515600" cy="1737360"/>
          </a:xfrm>
          <a:prstGeom prst="rect">
            <a:avLst/>
          </a:prstGeom>
          <a:solidFill>
            <a:srgbClr val="D4E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22960" y="4023360"/>
            <a:ext cx="73152" cy="1737360"/>
          </a:xfrm>
          <a:prstGeom prst="rect">
            <a:avLst/>
          </a:prstGeom>
          <a:solidFill>
            <a:srgbClr val="1A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" y="4114800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A6B3A"/>
                </a:solidFill>
                <a:latin typeface="Microsoft JhengHei"/>
              </a:rPr>
              <a:t>選擇 q = 17 — 因為 17 ≡ 1 (mod 8)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4526280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1A"/>
                </a:solidFill>
                <a:latin typeface="Microsoft JhengHei"/>
              </a:rPr>
              <a:t>▸  f = order of 17 mod 8 = 1    ⇒    g = n / f = 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4937760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1A"/>
                </a:solidFill>
                <a:latin typeface="Microsoft JhengHei"/>
              </a:rPr>
              <a:t>▸  17 · 𝒪_K  =  𝔮₁ · 𝔮₂ · 𝔮₃ · 𝔮₄ — 完全分裂為 4 個質理想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" y="5349240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1A"/>
                </a:solidFill>
                <a:latin typeface="Microsoft JhengHei"/>
              </a:rPr>
              <a:t>▸  R₁₇ := 𝒪_K / 17 · 𝒪_K  ≅  ℤ₁₇⁴  — 此即 NTT 結構（詳見 Section 4）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598932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D2F6B"/>
                </a:solidFill>
                <a:latin typeface="Microsoft JhengHei"/>
              </a:rPr>
              <a:t>💡  此小例完整連結了 Obj. 1–4 + Course Objective 5（理想格的覆積）。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2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12188952" cy="45720"/>
          </a:xfrm>
          <a:prstGeom prst="rect">
            <a:avLst/>
          </a:prstGeom>
          <a:solidFill>
            <a:srgbClr val="B88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554480"/>
            <a:ext cx="121889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B88600"/>
                </a:solidFill>
                <a:latin typeface="Microsoft JhengHei"/>
              </a:rPr>
              <a:t>Section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017520"/>
            <a:ext cx="121889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Microsoft JhengHei"/>
              </a:rPr>
              <a:t>LWE 與 Ring-LWE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114800"/>
            <a:ext cx="121889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D6E4F7"/>
                </a:solidFill>
                <a:latin typeface="Times New Roman"/>
              </a:rPr>
              <a:t>LWE and Ring-LWE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5029200"/>
            <a:ext cx="121889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D6E4F7"/>
                </a:solidFill>
                <a:latin typeface="Microsoft JhengHei"/>
              </a:rPr>
              <a:t>⏱  10 分鐘 / minutes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2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icrosoft JhengHei"/>
              </a:rPr>
              <a:t>LWE 直觀解釋 — 帶雜訊的線性方程組求解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6E4F7"/>
                </a:solidFill>
                <a:latin typeface="Microsoft JhengHei"/>
              </a:rPr>
              <a:t>Section 4 · Slide 31 / 41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51560"/>
            <a:ext cx="12188952" cy="36576"/>
          </a:xfrm>
          <a:prstGeom prst="rect">
            <a:avLst/>
          </a:prstGeom>
          <a:solidFill>
            <a:srgbClr val="B88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1967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Microsoft JhengHei"/>
              </a:rPr>
              <a:t>黃崇晉 L16141149 | 數論（一）| 2026 春季 | 國立成功大學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23444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D2F6B"/>
                </a:solidFill>
                <a:latin typeface="Microsoft JhengHei"/>
              </a:rPr>
              <a:t>Learning With Errors（學習雜訊干擾的線性函數）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1783080"/>
            <a:ext cx="10515600" cy="1371600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" y="1783080"/>
            <a:ext cx="73152" cy="1371600"/>
          </a:xfrm>
          <a:prstGeom prst="rect">
            <a:avLst/>
          </a:prstGeom>
          <a:solidFill>
            <a:srgbClr val="1E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1856231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1A"/>
                </a:solidFill>
                <a:latin typeface="Microsoft JhengHei"/>
              </a:rPr>
              <a:t>給定樣本  (aᵢ, bᵢ)  滿足  bᵢ ≈ ⟨aᵢ, s⟩ (mod q)，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28600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1A"/>
                </a:solidFill>
                <a:latin typeface="Microsoft JhengHei"/>
              </a:rPr>
              <a:t>其中每個 bᵢ 都加了一個小的隨機誤差 eᵢ，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269748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D2F6B"/>
                </a:solidFill>
                <a:latin typeface="Microsoft JhengHei"/>
              </a:rPr>
              <a:t>目標：還原秘密向量 s。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3383280"/>
            <a:ext cx="5120640" cy="2377440"/>
          </a:xfrm>
          <a:prstGeom prst="rect">
            <a:avLst/>
          </a:prstGeom>
          <a:solidFill>
            <a:srgbClr val="D4E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" y="3383280"/>
            <a:ext cx="73152" cy="2377440"/>
          </a:xfrm>
          <a:prstGeom prst="rect">
            <a:avLst/>
          </a:prstGeom>
          <a:solidFill>
            <a:srgbClr val="1A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34747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6B3A"/>
                </a:solidFill>
                <a:latin typeface="Microsoft JhengHei"/>
              </a:rPr>
              <a:t>若 eᵢ = 0（無雜訊）：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388620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A1A1A"/>
                </a:solidFill>
                <a:latin typeface="Microsoft JhengHei"/>
              </a:rPr>
              <a:t>高斯消去法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42976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Microsoft JhengHei"/>
              </a:rPr>
              <a:t>多項式時間可解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466344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55555"/>
                </a:solidFill>
                <a:latin typeface="Microsoft JhengHei"/>
              </a:rPr>
              <a:t>O(n³)，明確線性代數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3383280"/>
            <a:ext cx="5120640" cy="2377440"/>
          </a:xfrm>
          <a:prstGeom prst="rect">
            <a:avLst/>
          </a:prstGeom>
          <a:solidFill>
            <a:srgbClr val="F8D7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17920" y="3383280"/>
            <a:ext cx="73152" cy="2377440"/>
          </a:xfrm>
          <a:prstGeom prst="rect">
            <a:avLst/>
          </a:prstGeom>
          <a:solidFill>
            <a:srgbClr val="C0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34747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C03030"/>
                </a:solidFill>
                <a:latin typeface="Microsoft JhengHei"/>
              </a:rPr>
              <a:t>若加上小雜訊：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388620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A1A1A"/>
                </a:solidFill>
                <a:latin typeface="Microsoft JhengHei"/>
              </a:rPr>
              <a:t>問題變為指數困難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42976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Microsoft JhengHei"/>
              </a:rPr>
              <a:t>目前無有效演算法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466344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55555"/>
                </a:solidFill>
                <a:latin typeface="Microsoft JhengHei"/>
              </a:rPr>
              <a:t>包含量子演算法亦無能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598932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D2F6B"/>
                </a:solidFill>
                <a:latin typeface="Microsoft JhengHei"/>
              </a:rPr>
              <a:t>💡  雜訊的存在「打破了線性結構」— 這正是格密碼安全性的來源。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2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icrosoft JhengHei"/>
              </a:rPr>
              <a:t>LWE 形式定義 (Regev, STOC 2005 / JACM 2009)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6E4F7"/>
                </a:solidFill>
                <a:latin typeface="Microsoft JhengHei"/>
              </a:rPr>
              <a:t>Section 4 · Slide 32 / 41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51560"/>
            <a:ext cx="12188952" cy="36576"/>
          </a:xfrm>
          <a:prstGeom prst="rect">
            <a:avLst/>
          </a:prstGeom>
          <a:solidFill>
            <a:srgbClr val="B88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1967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Microsoft JhengHei"/>
              </a:rPr>
              <a:t>黃崇晉 L16141149 | 數論（一）| 2026 春季 | 國立成功大學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188720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D2F6B"/>
                </a:solidFill>
                <a:latin typeface="Microsoft JhengHei"/>
              </a:rPr>
              <a:t>參數 / Parameters：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554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Microsoft JhengHei"/>
              </a:rPr>
              <a:t>▸ n, q ∈ ℤ⁺ — 維度與模數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1920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Microsoft JhengHei"/>
              </a:rPr>
              <a:t>▸ χ — 誤差分布 (typically discrete Gaussian, width αq, α &lt; 1/√n)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2860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Microsoft JhengHei"/>
              </a:rPr>
              <a:t>▸ s ∈ ℤ_q^n — 固定的秘密向量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2743200"/>
            <a:ext cx="10515600" cy="1005840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960" y="2743200"/>
            <a:ext cx="73152" cy="1005840"/>
          </a:xfrm>
          <a:prstGeom prst="rect">
            <a:avLst/>
          </a:prstGeom>
          <a:solidFill>
            <a:srgbClr val="1E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2788920"/>
            <a:ext cx="10241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0D2F6B"/>
                </a:solidFill>
                <a:latin typeface="Times New Roman"/>
              </a:rPr>
              <a:t>(a,  ⟨a, s⟩ + e  mod q)   ∈   ℤ_q^n × ℤ_q
a ← U(ℤ_q^n) ,    e ← 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3886200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D2F6B"/>
                </a:solidFill>
                <a:latin typeface="Microsoft JhengHei"/>
              </a:rPr>
              <a:t>兩個變體 / Two variants：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4251960"/>
            <a:ext cx="5120640" cy="1280160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42976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D2F6B"/>
                </a:solidFill>
                <a:latin typeface="Microsoft JhengHei"/>
              </a:rPr>
              <a:t>Search-LWE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466344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Microsoft JhengHei"/>
              </a:rPr>
              <a:t>由樣本還原秘密 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502920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  <a:latin typeface="Times New Roman"/>
              </a:rPr>
              <a:t>Recover the secret 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4251960"/>
            <a:ext cx="5120640" cy="1280160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42976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D2F6B"/>
                </a:solidFill>
                <a:latin typeface="Microsoft JhengHei"/>
              </a:rPr>
              <a:t>Decision-LWE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466344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Microsoft JhengHei"/>
              </a:rPr>
              <a:t>區分 LWE 樣本與 uniform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502920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  <a:latin typeface="Times New Roman"/>
              </a:rPr>
              <a:t>Distinguish from uniform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598932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D2F6B"/>
                </a:solidFill>
                <a:latin typeface="Microsoft JhengHei"/>
              </a:rPr>
              <a:t>💡  Decision ⟺ Search 多項式時間等價（standard reduction）。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2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icrosoft JhengHei"/>
              </a:rPr>
              <a:t>Regev 量子歸約 — 安全性的源頭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6E4F7"/>
                </a:solidFill>
                <a:latin typeface="Microsoft JhengHei"/>
              </a:rPr>
              <a:t>Section 4 · Slide 33 / 41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51560"/>
            <a:ext cx="12188952" cy="36576"/>
          </a:xfrm>
          <a:prstGeom prst="rect">
            <a:avLst/>
          </a:prstGeom>
          <a:solidFill>
            <a:srgbClr val="B88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1967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Microsoft JhengHei"/>
              </a:rPr>
              <a:t>黃崇晉 L16141149 | 數論（一）| 2026 春季 | 國立成功大學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188720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D2F6B"/>
                </a:solidFill>
                <a:latin typeface="Microsoft JhengHei"/>
              </a:rPr>
              <a:t>Worst-case to Average-case Reduction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1691640"/>
            <a:ext cx="10515600" cy="1005840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" y="1691640"/>
            <a:ext cx="73152" cy="1005840"/>
          </a:xfrm>
          <a:prstGeom prst="rect">
            <a:avLst/>
          </a:prstGeom>
          <a:solidFill>
            <a:srgbClr val="1E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1737360"/>
            <a:ext cx="10241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0D2F6B"/>
                </a:solidFill>
                <a:latin typeface="Times New Roman"/>
              </a:rPr>
              <a:t>LWE_{n,q,χ}    ⟵    GapSVP_γ ,  SIVP_γ
on arbitrary n-dimensional lattices,    γ = Õ(n/α)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2880360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D2F6B"/>
                </a:solidFill>
                <a:latin typeface="Microsoft JhengHei"/>
              </a:rPr>
              <a:t>意義 / Meaning：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29184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E50A0"/>
                </a:solidFill>
                <a:latin typeface="Microsoft JhengHei"/>
              </a:rPr>
              <a:t>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329184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1A"/>
                </a:solidFill>
                <a:latin typeface="Microsoft JhengHei"/>
              </a:rPr>
              <a:t>破解隨機 LWE 實例至少和解任意格上 worst-case SVP 一樣困難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379476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E50A0"/>
                </a:solidFill>
                <a:latin typeface="Microsoft JhengHei"/>
              </a:rPr>
              <a:t>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379476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1A"/>
                </a:solidFill>
                <a:latin typeface="Microsoft JhengHei"/>
              </a:rPr>
              <a:t>「最壞情形」的困難性轉移至「平均情形」— 罕見且強的安全保證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29768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E50A0"/>
                </a:solidFill>
                <a:latin typeface="Microsoft JhengHei"/>
              </a:rPr>
              <a:t>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429768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1A"/>
                </a:solidFill>
                <a:latin typeface="Microsoft JhengHei"/>
              </a:rPr>
              <a:t>歸約是量子的（用到量子傅立葉）— 古典歸約仍是開放問題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480060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E50A0"/>
                </a:solidFill>
                <a:latin typeface="Microsoft JhengHei"/>
              </a:rPr>
              <a:t>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48006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1A"/>
                </a:solidFill>
                <a:latin typeface="Microsoft JhengHei"/>
              </a:rPr>
              <a:t>γ 為近似因子；越小越強，但 LWE 安全參數隨之變嚴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5623560"/>
            <a:ext cx="11430000" cy="777240"/>
          </a:xfrm>
          <a:prstGeom prst="rect">
            <a:avLst/>
          </a:prstGeom>
          <a:solidFill>
            <a:srgbClr val="F8D7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566928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C03030"/>
                </a:solidFill>
                <a:latin typeface="Microsoft JhengHei"/>
              </a:rPr>
              <a:t>🚧  缺點 / Drawback：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598932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Microsoft JhengHei"/>
              </a:rPr>
              <a:t>公鑰矩陣  A ∈ ℤ_q^(n×m)  大小  O(n²)，乘法 O(n²) — Ring-LWE 即為解此問題而生。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2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icrosoft JhengHei"/>
              </a:rPr>
              <a:t>Ring-LWE — 提升至代數整數環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6E4F7"/>
                </a:solidFill>
                <a:latin typeface="Microsoft JhengHei"/>
              </a:rPr>
              <a:t>Section 4 · Slide 34 / 41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51560"/>
            <a:ext cx="12188952" cy="36576"/>
          </a:xfrm>
          <a:prstGeom prst="rect">
            <a:avLst/>
          </a:prstGeom>
          <a:solidFill>
            <a:srgbClr val="B88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1967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Microsoft JhengHei"/>
              </a:rPr>
              <a:t>黃崇晉 L16141149 | 數論（一）| 2026 春季 | 國立成功大學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188720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55555"/>
                </a:solidFill>
                <a:latin typeface="Times New Roman"/>
              </a:rPr>
              <a:t>Lyubashevsky–Peikert–Regev (EUROCRYPT 2010 / JACM 2013)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55448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D2F6B"/>
                </a:solidFill>
                <a:latin typeface="Microsoft JhengHei"/>
              </a:rPr>
              <a:t>把 ℤⁿ 換成分圓整數環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2057400"/>
            <a:ext cx="10515600" cy="1280160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2960" y="2057400"/>
            <a:ext cx="73152" cy="1280160"/>
          </a:xfrm>
          <a:prstGeom prst="rect">
            <a:avLst/>
          </a:prstGeom>
          <a:solidFill>
            <a:srgbClr val="1E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2103120"/>
            <a:ext cx="10241280" cy="118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0D2F6B"/>
                </a:solidFill>
                <a:latin typeface="Times New Roman"/>
              </a:rPr>
              <a:t>R  :=  𝒪_K  =  ℤ[x] / Φₘ(x)  =  ℤ[x] / (xⁿ + 1)
R_q  :=  R / qR
R^∨  :=  𝔡_{K/ℚ}⁻¹    (codifferent,  Obj. 4)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3520440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D2F6B"/>
                </a:solidFill>
                <a:latin typeface="Microsoft JhengHei"/>
              </a:rPr>
              <a:t>Ring-LWE 樣本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3886200"/>
            <a:ext cx="10515600" cy="914400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" y="3886200"/>
            <a:ext cx="73152" cy="914400"/>
          </a:xfrm>
          <a:prstGeom prst="rect">
            <a:avLst/>
          </a:prstGeom>
          <a:solidFill>
            <a:srgbClr val="1E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3931920"/>
            <a:ext cx="10241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D2F6B"/>
                </a:solidFill>
                <a:latin typeface="Times New Roman"/>
              </a:rPr>
              <a:t>(a,  a · s + e  mod qR^∨)   ∈   R_q × R_q^∨
a ← U(R_q) ,    e ← Gaussian on K_ℝ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02920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E50A0"/>
                </a:solidFill>
                <a:latin typeface="Microsoft JhengHei"/>
              </a:rPr>
              <a:t>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5029200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Microsoft JhengHei"/>
              </a:rPr>
              <a:t>secret  s ∈ R_q^∨、sample 中的 a 與 a · s + e 皆為環元素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39496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E50A0"/>
                </a:solidFill>
                <a:latin typeface="Microsoft JhengHei"/>
              </a:rPr>
              <a:t>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5394960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Microsoft JhengHei"/>
              </a:rPr>
              <a:t>對 power-of-two  m = 2ᵏ：R^∨ = (1/n) R 為純量倍 → simplified Ring-LWE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576072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E50A0"/>
                </a:solidFill>
                <a:latin typeface="Microsoft JhengHei"/>
              </a:rPr>
              <a:t>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5760720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Microsoft JhengHei"/>
              </a:rPr>
              <a:t>歸約：Ring-LWE  ⟵  approx-SVP on ideal lattices in R（量子）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2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icrosoft JhengHei"/>
              </a:rPr>
              <a:t>質理想分裂的角色 — NTT 的代數來源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6E4F7"/>
                </a:solidFill>
                <a:latin typeface="Microsoft JhengHei"/>
              </a:rPr>
              <a:t>Section 4 · Slide 35 / 41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51560"/>
            <a:ext cx="12188952" cy="36576"/>
          </a:xfrm>
          <a:prstGeom prst="rect">
            <a:avLst/>
          </a:prstGeom>
          <a:solidFill>
            <a:srgbClr val="B88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1967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Microsoft JhengHei"/>
              </a:rPr>
              <a:t>黃崇晉 L16141149 | 數論（一）| 2026 春季 | 國立成功大學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1887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D2F6B"/>
                </a:solidFill>
                <a:latin typeface="Microsoft JhengHei"/>
              </a:rPr>
              <a:t>選擇 q prime 滿足 q ≡ 1 (mod m)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691640"/>
            <a:ext cx="11338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1A"/>
                </a:solidFill>
                <a:latin typeface="Microsoft JhengHei"/>
              </a:rPr>
              <a:t>則 Φₘ(x) 在 ℤ_q 中有 n 個相異根：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2194560"/>
            <a:ext cx="10515600" cy="914400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2960" y="2194560"/>
            <a:ext cx="73152" cy="914400"/>
          </a:xfrm>
          <a:prstGeom prst="rect">
            <a:avLst/>
          </a:prstGeom>
          <a:solidFill>
            <a:srgbClr val="1E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2240279"/>
            <a:ext cx="10241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0D2F6B"/>
                </a:solidFill>
                <a:latin typeface="Times New Roman"/>
              </a:rPr>
              <a:t>Φₘ(x)  ≡  ∏ᵢ₌₁ⁿ (x − ωᵢ)   (mod q)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3291840"/>
            <a:ext cx="11338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1A"/>
                </a:solidFill>
                <a:latin typeface="Microsoft JhengHei"/>
              </a:rPr>
              <a:t>由中國剩餘定理 (CRT)：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3703320"/>
            <a:ext cx="10515600" cy="914400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" y="3703320"/>
            <a:ext cx="73152" cy="914400"/>
          </a:xfrm>
          <a:prstGeom prst="rect">
            <a:avLst/>
          </a:prstGeom>
          <a:solidFill>
            <a:srgbClr val="1E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3749039"/>
            <a:ext cx="10241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A6B3A"/>
                </a:solidFill>
                <a:latin typeface="Times New Roman"/>
              </a:rPr>
              <a:t>R_q  =  ℤ[x] / (Φₘ(x), q)   ≅   ∏ᵢ₌₁ⁿ ℤ_q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4800600"/>
            <a:ext cx="10515600" cy="1005840"/>
          </a:xfrm>
          <a:prstGeom prst="rect">
            <a:avLst/>
          </a:prstGeom>
          <a:solidFill>
            <a:srgbClr val="D4E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2960" y="4800600"/>
            <a:ext cx="73152" cy="1005840"/>
          </a:xfrm>
          <a:prstGeom prst="rect">
            <a:avLst/>
          </a:prstGeom>
          <a:solidFill>
            <a:srgbClr val="1A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4864608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A6B3A"/>
                </a:solidFill>
                <a:latin typeface="Microsoft JhengHei"/>
              </a:rPr>
              <a:t>▸ 這個同構就是 Number-Theoretic Transform (NTT)！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5212080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1A"/>
                </a:solidFill>
                <a:latin typeface="Microsoft JhengHei"/>
              </a:rPr>
              <a:t>▸ 計算複雜度 O(n log n)，類比 FFT 之於普通卷積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5532120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1A"/>
                </a:solidFill>
                <a:latin typeface="Microsoft JhengHei"/>
              </a:rPr>
              <a:t>▸ 幾何上：q · 𝒪_K 完全分裂為 n 個質理想（Obj. 3）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03504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D2F6B"/>
                </a:solidFill>
                <a:latin typeface="Microsoft JhengHei"/>
              </a:rPr>
              <a:t>💡  一個課程目標（Obj. 3）= 一個演算法加速。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2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icrosoft JhengHei"/>
              </a:rPr>
              <a:t>Negacyclic 卷積 與 公鑰大小節省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6E4F7"/>
                </a:solidFill>
                <a:latin typeface="Microsoft JhengHei"/>
              </a:rPr>
              <a:t>Section 4 · Slide 36 / 41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51560"/>
            <a:ext cx="12188952" cy="36576"/>
          </a:xfrm>
          <a:prstGeom prst="rect">
            <a:avLst/>
          </a:prstGeom>
          <a:solidFill>
            <a:srgbClr val="B88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1967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Microsoft JhengHei"/>
              </a:rPr>
              <a:t>黃崇晉 L16141149 | 數論（一）| 2026 春季 | 國立成功大學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1887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1A"/>
                </a:solidFill>
                <a:latin typeface="Microsoft JhengHei"/>
              </a:rPr>
              <a:t>因 Φₘ(x) = xⁿ + 1，在 R_q 中 xⁿ ≡ −1，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1691640"/>
            <a:ext cx="10515600" cy="1005840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" y="1691640"/>
            <a:ext cx="73152" cy="1005840"/>
          </a:xfrm>
          <a:prstGeom prst="rect">
            <a:avLst/>
          </a:prstGeom>
          <a:solidFill>
            <a:srgbClr val="1E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1737360"/>
            <a:ext cx="10241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0D2F6B"/>
                </a:solidFill>
                <a:latin typeface="Times New Roman"/>
              </a:rPr>
              <a:t>(a ∗ b)_k   =   Σ_{i+j=k} aᵢbⱼ   −   Σ_{i+j=k+n} aᵢbⱼ ,    0 ≤ k &lt; 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292608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D2F6B"/>
                </a:solidFill>
                <a:latin typeface="Microsoft JhengHei"/>
              </a:rPr>
              <a:t>比較表 / Comparison Table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3474720"/>
            <a:ext cx="10515600" cy="365760"/>
          </a:xfrm>
          <a:prstGeom prst="rect">
            <a:avLst/>
          </a:prstGeom>
          <a:solidFill>
            <a:srgbClr val="0D2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520439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Microsoft JhengHei"/>
              </a:rPr>
              <a:t>項目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3520439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Microsoft JhengHei"/>
              </a:rPr>
              <a:t>LWE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72200" y="3520439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Microsoft JhengHei"/>
              </a:rPr>
              <a:t>Ring-LWE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40" y="3520439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Microsoft JhengHei"/>
              </a:rPr>
              <a:t>節省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393192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Microsoft JhengHei"/>
              </a:rPr>
              <a:t>公鑰大小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393192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Microsoft JhengHei"/>
              </a:rPr>
              <a:t>O(n²)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72200" y="393192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Microsoft JhengHei"/>
              </a:rPr>
              <a:t>O(n)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78240" y="393192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Microsoft JhengHei"/>
              </a:rPr>
              <a:t>factor 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" y="4297680"/>
            <a:ext cx="10515600" cy="36576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20" y="434340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Microsoft JhengHei"/>
              </a:rPr>
              <a:t>乘法複雜度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66160" y="434340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Microsoft JhengHei"/>
              </a:rPr>
              <a:t>O(n²)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72200" y="434340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Microsoft JhengHei"/>
              </a:rPr>
              <a:t>O(n log n) (NTT)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78240" y="434340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Microsoft JhengHei"/>
              </a:rPr>
              <a:t>factor n / log 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" y="475488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Microsoft JhengHei"/>
              </a:rPr>
              <a:t>安全歸約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66160" y="475488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Microsoft JhengHei"/>
              </a:rPr>
              <a:t>any lattice SVP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72200" y="475488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Microsoft JhengHei"/>
              </a:rPr>
              <a:t>ideal lattice SVP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78240" y="475488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Microsoft JhengHei"/>
              </a:rPr>
              <a:t>略弱（仍開放）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22960" y="5120640"/>
            <a:ext cx="10515600" cy="36576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60120" y="5166359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Microsoft JhengHei"/>
              </a:rPr>
              <a:t>結構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66160" y="5166359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Microsoft JhengHei"/>
              </a:rPr>
              <a:t>純線性代數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72200" y="5166359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Microsoft JhengHei"/>
              </a:rPr>
              <a:t>代數結構（環）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778240" y="5166359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Microsoft JhengHei"/>
              </a:rPr>
              <a:t>—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" y="598932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D2F6B"/>
                </a:solidFill>
                <a:latin typeface="Microsoft JhengHei"/>
              </a:rPr>
              <a:t>💡  Ring-LWE 用「結構」換「效率」— 但結構也可能被攻擊利用，這是仍在研究的議題。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2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icrosoft JhengHei"/>
              </a:rPr>
              <a:t>Section 4 小結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6E4F7"/>
                </a:solidFill>
                <a:latin typeface="Microsoft JhengHei"/>
              </a:rPr>
              <a:t>Section 4 · Slide 37 / 41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51560"/>
            <a:ext cx="12188952" cy="36576"/>
          </a:xfrm>
          <a:prstGeom prst="rect">
            <a:avLst/>
          </a:prstGeom>
          <a:solidFill>
            <a:srgbClr val="B88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1967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Microsoft JhengHei"/>
              </a:rPr>
              <a:t>黃崇晉 L16141149 | 數論（一）| 2026 春季 | 國立成功大學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188720"/>
            <a:ext cx="113385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900" b="1">
                <a:solidFill>
                  <a:srgbClr val="1E50A0"/>
                </a:solidFill>
                <a:latin typeface="Microsoft JhengHei"/>
              </a:rPr>
              <a:t>▶  LWE：帶雜訊的線性方程組求解</a:t>
            </a:r>
          </a:p>
          <a:p>
            <a:pPr>
              <a:spcBef>
                <a:spcPts val="200"/>
              </a:spcBef>
            </a:pPr>
            <a:r>
              <a:rPr sz="1700" b="0">
                <a:solidFill>
                  <a:srgbClr val="1A1A1A"/>
                </a:solidFill>
                <a:latin typeface="Microsoft JhengHei"/>
              </a:rPr>
              <a:t>    •  Regev 量子歸約：worst-case SVP → average-case LWE</a:t>
            </a:r>
          </a:p>
          <a:p>
            <a:pPr>
              <a:spcBef>
                <a:spcPts val="200"/>
              </a:spcBef>
            </a:pPr>
            <a:r>
              <a:rPr sz="1700" b="0">
                <a:solidFill>
                  <a:srgbClr val="1A1A1A"/>
                </a:solidFill>
                <a:latin typeface="Microsoft JhengHei"/>
              </a:rPr>
              <a:t>    •  缺點：公鑰  O(n²)</a:t>
            </a:r>
          </a:p>
          <a:p>
            <a:pPr>
              <a:spcBef>
                <a:spcPts val="500"/>
              </a:spcBef>
            </a:pPr>
            <a:r>
              <a:rPr sz="1900" b="1">
                <a:solidFill>
                  <a:srgbClr val="1E50A0"/>
                </a:solidFill>
                <a:latin typeface="Microsoft JhengHei"/>
              </a:rPr>
              <a:t>▶  Ring-LWE：把 ℤⁿ 換為分圓整數環 R = 𝒪_K</a:t>
            </a:r>
          </a:p>
          <a:p>
            <a:pPr>
              <a:spcBef>
                <a:spcPts val="200"/>
              </a:spcBef>
            </a:pPr>
            <a:r>
              <a:rPr sz="1700" b="0">
                <a:solidFill>
                  <a:srgbClr val="1A1A1A"/>
                </a:solidFill>
                <a:latin typeface="Microsoft JhengHei"/>
              </a:rPr>
              <a:t>    •  歸約：approx-SVP on ideal lattices</a:t>
            </a:r>
          </a:p>
          <a:p>
            <a:pPr>
              <a:spcBef>
                <a:spcPts val="200"/>
              </a:spcBef>
            </a:pPr>
            <a:r>
              <a:rPr sz="1700" b="0">
                <a:solidFill>
                  <a:srgbClr val="1A1A1A"/>
                </a:solidFill>
                <a:latin typeface="Microsoft JhengHei"/>
              </a:rPr>
              <a:t>    •  公鑰縮為 O(n)、乘法 O(n log n)（NTT）</a:t>
            </a:r>
          </a:p>
          <a:p>
            <a:pPr>
              <a:spcBef>
                <a:spcPts val="500"/>
              </a:spcBef>
            </a:pPr>
            <a:r>
              <a:rPr sz="1900" b="1">
                <a:solidFill>
                  <a:srgbClr val="1E50A0"/>
                </a:solidFill>
                <a:latin typeface="Microsoft JhengHei"/>
              </a:rPr>
              <a:t>▶  代數結構的具體貢獻</a:t>
            </a:r>
          </a:p>
          <a:p>
            <a:pPr>
              <a:spcBef>
                <a:spcPts val="200"/>
              </a:spcBef>
            </a:pPr>
            <a:r>
              <a:rPr sz="1700" b="0">
                <a:solidFill>
                  <a:srgbClr val="1A1A1A"/>
                </a:solidFill>
                <a:latin typeface="Microsoft JhengHei"/>
              </a:rPr>
              <a:t>    •  質理想分裂 (Obj. 3) → CRT 同構 → NTT</a:t>
            </a:r>
          </a:p>
          <a:p>
            <a:pPr>
              <a:spcBef>
                <a:spcPts val="200"/>
              </a:spcBef>
            </a:pPr>
            <a:r>
              <a:rPr sz="1700" b="0">
                <a:solidFill>
                  <a:srgbClr val="1A1A1A"/>
                </a:solidFill>
                <a:latin typeface="Microsoft JhengHei"/>
              </a:rPr>
              <a:t>    •  Codifferent (Obj. 4) → dual ring R^∨；power-of-two 時退化為純量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2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12188952" cy="45720"/>
          </a:xfrm>
          <a:prstGeom prst="rect">
            <a:avLst/>
          </a:prstGeom>
          <a:solidFill>
            <a:srgbClr val="B88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554480"/>
            <a:ext cx="121889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B88600"/>
                </a:solidFill>
                <a:latin typeface="Microsoft JhengHei"/>
              </a:rPr>
              <a:t>Section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017520"/>
            <a:ext cx="121889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Microsoft JhengHei"/>
              </a:rPr>
              <a:t>應用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114800"/>
            <a:ext cx="121889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D6E4F7"/>
                </a:solidFill>
                <a:latin typeface="Times New Roman"/>
              </a:rPr>
              <a:t>Applications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5029200"/>
            <a:ext cx="121889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D6E4F7"/>
                </a:solidFill>
                <a:latin typeface="Microsoft JhengHei"/>
              </a:rPr>
              <a:t>⏱  5 分鐘 / minutes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2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icrosoft JhengHei"/>
              </a:rPr>
              <a:t>為什麼這件事重要？(Why This Matters)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6E4F7"/>
                </a:solidFill>
                <a:latin typeface="Microsoft JhengHei"/>
              </a:rPr>
              <a:t>Section 5 · Slide 39 / 41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51560"/>
            <a:ext cx="12188952" cy="36576"/>
          </a:xfrm>
          <a:prstGeom prst="rect">
            <a:avLst/>
          </a:prstGeom>
          <a:solidFill>
            <a:srgbClr val="B88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1967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Microsoft JhengHei"/>
              </a:rPr>
              <a:t>黃崇晉 L16141149 | 數論（一）| 2026 春季 | 國立成功大學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188720"/>
            <a:ext cx="113385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900" b="1">
                <a:solidFill>
                  <a:srgbClr val="1E50A0"/>
                </a:solidFill>
                <a:latin typeface="Microsoft JhengHei"/>
              </a:rPr>
              <a:t>▶  今日加密生態完全依賴古典公鑰</a:t>
            </a:r>
          </a:p>
          <a:p>
            <a:pPr>
              <a:spcBef>
                <a:spcPts val="200"/>
              </a:spcBef>
            </a:pPr>
            <a:r>
              <a:rPr sz="1700" b="0">
                <a:solidFill>
                  <a:srgbClr val="1A1A1A"/>
                </a:solidFill>
                <a:latin typeface="Microsoft JhengHei"/>
              </a:rPr>
              <a:t>    •  HTTPS（網站）、行動銀行、即時通訊、軟體更新、VPN — 全部依賴 RSA / ECC</a:t>
            </a:r>
          </a:p>
          <a:p>
            <a:pPr>
              <a:spcBef>
                <a:spcPts val="200"/>
              </a:spcBef>
            </a:pPr>
            <a:r>
              <a:rPr sz="1700" b="0">
                <a:solidFill>
                  <a:srgbClr val="1A1A1A"/>
                </a:solidFill>
                <a:latin typeface="Microsoft JhengHei"/>
              </a:rPr>
              <a:t>    •  量子電腦上線後將「同時」失效</a:t>
            </a:r>
          </a:p>
          <a:p>
            <a:pPr>
              <a:spcBef>
                <a:spcPts val="500"/>
              </a:spcBef>
            </a:pPr>
            <a:r>
              <a:rPr sz="1900" b="1">
                <a:solidFill>
                  <a:srgbClr val="1E50A0"/>
                </a:solidFill>
                <a:latin typeface="Microsoft JhengHei"/>
              </a:rPr>
              <a:t>▶  Harvest-Now, Decrypt-Later 威脅</a:t>
            </a:r>
          </a:p>
          <a:p>
            <a:pPr>
              <a:spcBef>
                <a:spcPts val="200"/>
              </a:spcBef>
            </a:pPr>
            <a:r>
              <a:rPr sz="1700" b="0">
                <a:solidFill>
                  <a:srgbClr val="1A1A1A"/>
                </a:solidFill>
                <a:latin typeface="Microsoft JhengHei"/>
              </a:rPr>
              <a:t>    •  今日攔截的密文，明日量子電腦解密</a:t>
            </a:r>
          </a:p>
          <a:p>
            <a:pPr>
              <a:spcBef>
                <a:spcPts val="200"/>
              </a:spcBef>
            </a:pPr>
            <a:r>
              <a:rPr sz="1700" b="0">
                <a:solidFill>
                  <a:srgbClr val="1A1A1A"/>
                </a:solidFill>
                <a:latin typeface="Microsoft JhengHei"/>
              </a:rPr>
              <a:t>    •  醫療紀錄、外交電文、長期密鑰 — 已暴露</a:t>
            </a:r>
          </a:p>
          <a:p>
            <a:pPr>
              <a:spcBef>
                <a:spcPts val="500"/>
              </a:spcBef>
            </a:pPr>
            <a:r>
              <a:rPr sz="1900" b="1">
                <a:solidFill>
                  <a:srgbClr val="1E50A0"/>
                </a:solidFill>
                <a:latin typeface="Microsoft JhengHei"/>
              </a:rPr>
              <a:t>▶  汰換時程</a:t>
            </a:r>
          </a:p>
          <a:p>
            <a:pPr>
              <a:spcBef>
                <a:spcPts val="200"/>
              </a:spcBef>
            </a:pPr>
            <a:r>
              <a:rPr sz="1700" b="0">
                <a:solidFill>
                  <a:srgbClr val="1A1A1A"/>
                </a:solidFill>
                <a:latin typeface="Microsoft JhengHei"/>
              </a:rPr>
              <a:t>    •  NIST 建議 2030 前完成關鍵系統 PQC 轉換</a:t>
            </a:r>
          </a:p>
          <a:p>
            <a:pPr>
              <a:spcBef>
                <a:spcPts val="200"/>
              </a:spcBef>
            </a:pPr>
            <a:r>
              <a:rPr sz="1700" b="0">
                <a:solidFill>
                  <a:srgbClr val="1A1A1A"/>
                </a:solidFill>
                <a:latin typeface="Microsoft JhengHei"/>
              </a:rPr>
              <a:t>    •  Google、Cloudflare、Apple 已開始於 TLS 部署 ML-KEM 混合模式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5925312"/>
            <a:ext cx="11430000" cy="530352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5952744"/>
            <a:ext cx="11155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D2F6B"/>
                </a:solidFill>
                <a:latin typeface="Microsoft JhengHei"/>
              </a:rPr>
              <a:t>💡  「先攔截、後解密」對長期機密是最棘手的威脅。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2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icrosoft JhengHei"/>
              </a:rPr>
              <a:t>NIST 後量子標準 (2024 年 8 月公布)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6E4F7"/>
                </a:solidFill>
                <a:latin typeface="Microsoft JhengHei"/>
              </a:rPr>
              <a:t>Section 5 · Slide 40 / 41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51560"/>
            <a:ext cx="12188952" cy="36576"/>
          </a:xfrm>
          <a:prstGeom prst="rect">
            <a:avLst/>
          </a:prstGeom>
          <a:solidFill>
            <a:srgbClr val="B88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1967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Microsoft JhengHei"/>
              </a:rPr>
              <a:t>黃崇晉 L16141149 | 數論（一）| 2026 春季 | 國立成功大學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1887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55555"/>
                </a:solidFill>
                <a:latin typeface="Microsoft JhengHei"/>
              </a:rPr>
              <a:t>歷時 8 年的全球競賽 (2016–2024)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1691640"/>
            <a:ext cx="10515600" cy="1920240"/>
          </a:xfrm>
          <a:prstGeom prst="rect">
            <a:avLst/>
          </a:prstGeom>
          <a:solidFill>
            <a:srgbClr val="D4E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" y="1691640"/>
            <a:ext cx="73152" cy="1920240"/>
          </a:xfrm>
          <a:prstGeom prst="rect">
            <a:avLst/>
          </a:prstGeom>
          <a:solidFill>
            <a:srgbClr val="1A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1783080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A6B3A"/>
                </a:solidFill>
                <a:latin typeface="Microsoft JhengHei"/>
              </a:rPr>
              <a:t>FIPS 203 — 金鑰交換 / Key Encapsulation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194560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1A"/>
                </a:solidFill>
                <a:latin typeface="Microsoft JhengHei"/>
              </a:rPr>
              <a:t>▸ 後量子版本的 RSA / Diffie–Hellman 握手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2560320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1A"/>
                </a:solidFill>
                <a:latin typeface="Microsoft JhengHei"/>
              </a:rPr>
              <a:t>▸ 用於兩方建立加密通道前的「秘密握手」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2926080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1A"/>
                </a:solidFill>
                <a:latin typeface="Microsoft JhengHei"/>
              </a:rPr>
              <a:t>▸ 數學基礎：Ring-LWE / Module-LWE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3291840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Microsoft JhengHei"/>
              </a:rPr>
              <a:t>▸ 公鑰約 800 byte，密文約 1 KB；速度快於 RSA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3749039"/>
            <a:ext cx="10515600" cy="1920240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2960" y="3749039"/>
            <a:ext cx="73152" cy="1920240"/>
          </a:xfrm>
          <a:prstGeom prst="rect">
            <a:avLst/>
          </a:prstGeom>
          <a:solidFill>
            <a:srgbClr val="1E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3840480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E50A0"/>
                </a:solidFill>
                <a:latin typeface="Microsoft JhengHei"/>
              </a:rPr>
              <a:t>FIPS 204 — 數位簽章 / Digital Signature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4251960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1A"/>
                </a:solidFill>
                <a:latin typeface="Microsoft JhengHei"/>
              </a:rPr>
              <a:t>▸ 後量子版本的 RSA / ECDSA 簽章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4617720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1A"/>
                </a:solidFill>
                <a:latin typeface="Microsoft JhengHei"/>
              </a:rPr>
              <a:t>▸ 用於 TLS 憑證、軟體簽章、身分認證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4983480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1A"/>
                </a:solidFill>
                <a:latin typeface="Microsoft JhengHei"/>
              </a:rPr>
              <a:t>▸ 數學基礎：Ring-LWE / Module-LWE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5349240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Microsoft JhengHei"/>
              </a:rPr>
              <a:t>▸ 簽章約 2.4 KB，公鑰約 1.3 KB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598932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D2F6B"/>
                </a:solidFill>
                <a:latin typeface="Microsoft JhengHei"/>
              </a:rPr>
              <a:t>💡  代數數論 + 格幾何 = 你我未來十年的網路安全基礎。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2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88952" cy="45720"/>
          </a:xfrm>
          <a:prstGeom prst="rect">
            <a:avLst/>
          </a:prstGeom>
          <a:solidFill>
            <a:srgbClr val="B88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097280"/>
            <a:ext cx="121889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400" b="1">
                <a:solidFill>
                  <a:srgbClr val="FFFFFF"/>
                </a:solidFill>
                <a:latin typeface="Times New Roman"/>
              </a:rPr>
              <a:t>Thank you!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2148840"/>
            <a:ext cx="121889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>
                <a:solidFill>
                  <a:srgbClr val="D6E4F7"/>
                </a:solidFill>
                <a:latin typeface="Microsoft JhengHei"/>
              </a:rPr>
              <a:t>感謝聆聽 · Q &amp; 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3200400"/>
            <a:ext cx="121889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D6E4F7"/>
                </a:solidFill>
                <a:latin typeface="Microsoft JhengHei"/>
              </a:rPr>
              <a:t>本報告核心：以代數數論的觀點理解 Ring-LWE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657600"/>
            <a:ext cx="121889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D6E4F7"/>
                </a:solidFill>
                <a:latin typeface="Microsoft JhengHei"/>
              </a:rPr>
              <a:t>格 → 理想格 → Ring-LWE → 後量子密碼學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43484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B88600"/>
                </a:solidFill>
                <a:latin typeface="Microsoft JhengHei"/>
              </a:rPr>
              <a:t>主要參考文獻 / Main References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80060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D6E4F7"/>
                </a:solidFill>
                <a:latin typeface="Times New Roman"/>
              </a:rPr>
              <a:t>O. Regev, J. ACM 56(6), 2009.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093208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D6E4F7"/>
                </a:solidFill>
                <a:latin typeface="Times New Roman"/>
              </a:rPr>
              <a:t>V. Lyubashevsky, C. Peikert, O. Regev, J. ACM 60(6), 2013.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385816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D6E4F7"/>
                </a:solidFill>
                <a:latin typeface="Times New Roman"/>
              </a:rPr>
              <a:t>C. Peikert, Found. Trends TCS 10(4), 2016.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678424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D6E4F7"/>
                </a:solidFill>
                <a:latin typeface="Times New Roman"/>
              </a:rPr>
              <a:t>NIST FIPS 203 / 204, 2024.    ·    D. A. Marcus, Number Fields, Ch. 1–5.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0" y="6126480"/>
            <a:ext cx="121889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D6E4F7"/>
                </a:solidFill>
                <a:latin typeface="Microsoft JhengHei"/>
              </a:rPr>
              <a:t>黃崇晉  ·  L16141149  ·  數論（一）  ·  2026 春季  ·  國立成功大學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